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56be4d0614a70" /><Relationship Type="http://schemas.openxmlformats.org/officeDocument/2006/relationships/extended-properties" Target="/docProps/app.xml" Id="R99dfcc53ab964fba" /><Relationship Type="http://schemas.openxmlformats.org/officeDocument/2006/relationships/officeDocument" Target="/ppt/presentation.xml" Id="R52c33ff607cd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9f80f770042fb"/>
  </p:sldMasterIdLst>
  <p:notesMasterIdLst>
    <p:notesMasterId xmlns:r="http://schemas.openxmlformats.org/officeDocument/2006/relationships" r:id="Ra385cc47ab9a4d71"/>
  </p:notesMasterIdLst>
  <p:sldIdLst>
    <p:sldId xmlns:r="http://schemas.openxmlformats.org/officeDocument/2006/relationships" id="256" r:id="R8fa4ad0e1db84621"/>
    <p:sldId xmlns:r="http://schemas.openxmlformats.org/officeDocument/2006/relationships" id="257" r:id="Re0813c1864054891"/>
    <p:sldId xmlns:r="http://schemas.openxmlformats.org/officeDocument/2006/relationships" id="258" r:id="Rc9320a542c4f47fa"/>
    <p:sldId xmlns:r="http://schemas.openxmlformats.org/officeDocument/2006/relationships" id="259" r:id="R6595e601405a4057"/>
    <p:sldId xmlns:r="http://schemas.openxmlformats.org/officeDocument/2006/relationships" id="260" r:id="R9dcf4d45c9ad4498"/>
    <p:sldId xmlns:r="http://schemas.openxmlformats.org/officeDocument/2006/relationships" id="261" r:id="R794bb5b424a943fe"/>
    <p:sldId xmlns:r="http://schemas.openxmlformats.org/officeDocument/2006/relationships" id="262" r:id="R5cb248bae4da47d3"/>
    <p:sldId xmlns:r="http://schemas.openxmlformats.org/officeDocument/2006/relationships" id="263" r:id="R7a405d82d56d46ba"/>
    <p:sldId xmlns:r="http://schemas.openxmlformats.org/officeDocument/2006/relationships" id="264" r:id="R9ade2fec33534cc1"/>
    <p:sldId xmlns:r="http://schemas.openxmlformats.org/officeDocument/2006/relationships" id="265" r:id="Ra753730debe04549"/>
    <p:sldId xmlns:r="http://schemas.openxmlformats.org/officeDocument/2006/relationships" id="266" r:id="R692c02adfbf84a7b"/>
    <p:sldId xmlns:r="http://schemas.openxmlformats.org/officeDocument/2006/relationships" id="267" r:id="R9c55a66d0867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40f8cd452481b" /><Relationship Type="http://schemas.openxmlformats.org/officeDocument/2006/relationships/slideMaster" Target="/ppt/slideMasters/slideMaster1.xml" Id="R1ed9f80f770042fb" /><Relationship Type="http://schemas.openxmlformats.org/officeDocument/2006/relationships/notesMaster" Target="/ppt/notesMasters/notesMaster1.xml" Id="Ra385cc47ab9a4d71" /><Relationship Type="http://schemas.openxmlformats.org/officeDocument/2006/relationships/presProps" Target="/ppt/presProps.xml" Id="Ra9bb604d00ca4553" /><Relationship Type="http://schemas.openxmlformats.org/officeDocument/2006/relationships/tableStyles" Target="/ppt/tableStyles.xml" Id="Ra7b81d2d6a7a4e72" /><Relationship Type="http://schemas.openxmlformats.org/officeDocument/2006/relationships/slide" Target="/ppt/slides/slide1.xml" Id="R8fa4ad0e1db84621" /><Relationship Type="http://schemas.openxmlformats.org/officeDocument/2006/relationships/slide" Target="/ppt/slides/slide2.xml" Id="Re0813c1864054891" /><Relationship Type="http://schemas.openxmlformats.org/officeDocument/2006/relationships/slide" Target="/ppt/slides/slide3.xml" Id="Rc9320a542c4f47fa" /><Relationship Type="http://schemas.openxmlformats.org/officeDocument/2006/relationships/slide" Target="/ppt/slides/slide4.xml" Id="R6595e601405a4057" /><Relationship Type="http://schemas.openxmlformats.org/officeDocument/2006/relationships/slide" Target="/ppt/slides/slide5.xml" Id="R9dcf4d45c9ad4498" /><Relationship Type="http://schemas.openxmlformats.org/officeDocument/2006/relationships/slide" Target="/ppt/slides/slide6.xml" Id="R794bb5b424a943fe" /><Relationship Type="http://schemas.openxmlformats.org/officeDocument/2006/relationships/slide" Target="/ppt/slides/slide7.xml" Id="R5cb248bae4da47d3" /><Relationship Type="http://schemas.openxmlformats.org/officeDocument/2006/relationships/slide" Target="/ppt/slides/slide8.xml" Id="R7a405d82d56d46ba" /><Relationship Type="http://schemas.openxmlformats.org/officeDocument/2006/relationships/slide" Target="/ppt/slides/slide9.xml" Id="R9ade2fec33534cc1" /><Relationship Type="http://schemas.openxmlformats.org/officeDocument/2006/relationships/slide" Target="/ppt/slides/slide10.xml" Id="Ra753730debe04549" /><Relationship Type="http://schemas.openxmlformats.org/officeDocument/2006/relationships/slide" Target="/ppt/slides/slide11.xml" Id="R692c02adfbf84a7b" /><Relationship Type="http://schemas.openxmlformats.org/officeDocument/2006/relationships/slide" Target="/ppt/slides/slide12.xml" Id="R9c55a66d0867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108a9156c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93b277fc24af8" /><Relationship Type="http://schemas.openxmlformats.org/officeDocument/2006/relationships/notesMaster" Target="/ppt/notesMasters/notesMaster1.xml" Id="R848b7564ca28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982112e1c4f10" /><Relationship Type="http://schemas.openxmlformats.org/officeDocument/2006/relationships/notesMaster" Target="/ppt/notesMasters/notesMaster1.xml" Id="R5cd24f992d96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b404b79d94a60" /><Relationship Type="http://schemas.openxmlformats.org/officeDocument/2006/relationships/notesMaster" Target="/ppt/notesMasters/notesMaster1.xml" Id="Rde74da1b89f9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34ac81dfe49d9" /><Relationship Type="http://schemas.openxmlformats.org/officeDocument/2006/relationships/notesMaster" Target="/ppt/notesMasters/notesMaster1.xml" Id="R6dd0a76e8619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b9adaae2f406a" /><Relationship Type="http://schemas.openxmlformats.org/officeDocument/2006/relationships/notesMaster" Target="/ppt/notesMasters/notesMaster1.xml" Id="Ra702873c968a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a9ce51b4d464f" /><Relationship Type="http://schemas.openxmlformats.org/officeDocument/2006/relationships/notesMaster" Target="/ppt/notesMasters/notesMaster1.xml" Id="R828a102d978c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cb44388d024ed7" /><Relationship Type="http://schemas.openxmlformats.org/officeDocument/2006/relationships/notesMaster" Target="/ppt/notesMasters/notesMaster1.xml" Id="R6ee9712ddb4246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bdf5d00e94575" /><Relationship Type="http://schemas.openxmlformats.org/officeDocument/2006/relationships/notesMaster" Target="/ppt/notesMasters/notesMaster1.xml" Id="R416d53aa35cf4c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b37f2610d4635" /><Relationship Type="http://schemas.openxmlformats.org/officeDocument/2006/relationships/notesMaster" Target="/ppt/notesMasters/notesMaster1.xml" Id="Rfff6e45dffda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b6a3a4aa24570" /><Relationship Type="http://schemas.openxmlformats.org/officeDocument/2006/relationships/notesMaster" Target="/ppt/notesMasters/notesMaster1.xml" Id="R3a16de3fd487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076068413403a" /><Relationship Type="http://schemas.openxmlformats.org/officeDocument/2006/relationships/notesMaster" Target="/ppt/notesMasters/notesMaster1.xml" Id="R60155849326345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51f5682eb4181" /><Relationship Type="http://schemas.openxmlformats.org/officeDocument/2006/relationships/notesMaster" Target="/ppt/notesMasters/notesMaster1.xml" Id="R0643d3510752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2418d3a8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3b67d6fee4386" /><Relationship Type="http://schemas.openxmlformats.org/officeDocument/2006/relationships/slideLayout" Target="/ppt/slideLayouts/slideLayout1.xml" Id="R3db084e0b6b942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084e0b6b942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a0ab6f3244c6" /><Relationship Type="http://schemas.openxmlformats.org/officeDocument/2006/relationships/notesSlide" Target="/ppt/notesSlides/notesSlide1.xml" Id="R8c9bdf6d39d3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d027d96b74ec3" /><Relationship Type="http://schemas.openxmlformats.org/officeDocument/2006/relationships/notesSlide" Target="/ppt/notesSlides/notesSlide2.xml" Id="Re99146d220e7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886970f2443a" /><Relationship Type="http://schemas.openxmlformats.org/officeDocument/2006/relationships/notesSlide" Target="/ppt/notesSlides/notesSlide3.xml" Id="R5d74abb1d174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518b6ae74bf5" /><Relationship Type="http://schemas.openxmlformats.org/officeDocument/2006/relationships/notesSlide" Target="/ppt/notesSlides/notesSlide4.xml" Id="R87d7f6054958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5c9639f143d8" /><Relationship Type="http://schemas.openxmlformats.org/officeDocument/2006/relationships/notesSlide" Target="/ppt/notesSlides/notesSlide5.xml" Id="R3fbdf342e93b42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684f6a1940b8" /><Relationship Type="http://schemas.openxmlformats.org/officeDocument/2006/relationships/notesSlide" Target="/ppt/notesSlides/notesSlide6.xml" Id="R3132d3cfb19c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a45abf7e4102" /><Relationship Type="http://schemas.openxmlformats.org/officeDocument/2006/relationships/notesSlide" Target="/ppt/notesSlides/notesSlide7.xml" Id="R116cdc7a8a6d40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fd140ed04f32" /><Relationship Type="http://schemas.openxmlformats.org/officeDocument/2006/relationships/notesSlide" Target="/ppt/notesSlides/notesSlide8.xml" Id="Red4a4e8ec03342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c0853a234b7e" /><Relationship Type="http://schemas.openxmlformats.org/officeDocument/2006/relationships/notesSlide" Target="/ppt/notesSlides/notesSlide9.xml" Id="R11bafceb5f86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5584a57a4e67" /><Relationship Type="http://schemas.openxmlformats.org/officeDocument/2006/relationships/notesSlide" Target="/ppt/notesSlides/notesSlide10.xml" Id="R3d491493be49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276ddbc9b4db7" /><Relationship Type="http://schemas.openxmlformats.org/officeDocument/2006/relationships/notesSlide" Target="/ppt/notesSlides/notesSlide11.xml" Id="R761b60db5a6a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fc8e4c8d4ed3" /><Relationship Type="http://schemas.openxmlformats.org/officeDocument/2006/relationships/notesSlide" Target="/ppt/notesSlides/notesSlide12.xml" Id="R42fb75d0b385495b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C048ACBB-AA6B-4021-A277-BFAF1866DA7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82392FB2-C817-460F-AA1D-3A341A6C5925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DDA9A653-DA71-4232-9B27-75AD7633EEE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50FE6D34-0BAD-463A-A961-728A84C5D596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588BA08-89A9-403A-8573-3C4F0308E83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990600"/>
            <ns1:ext cx="5905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125" b="1">
                <ns1:solidFill>
                  <ns1:srgbClr val="15D6B3"/>
                </ns1:solidFill>
              </ns1:defRPr>
            </ns1:pPr>
            <ns1:r>
              <ns1:rPr sz="1125" b="1">
                <ns1:solidFill>
                  <ns1:srgbClr val="15D6B3"/>
                </ns1:solidFill>
              </ns1:rPr>
              <ns1:t>ENTERPRISE COLLABORATION RUNTIME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8429193-C5C8-4766-B4ED-FC36677F99A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62100"/>
            <ns1:ext cx="723900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5100" b="1">
                <ns1:solidFill>
                  <ns1:srgbClr val="FFFFFF"/>
                </ns1:solidFill>
              </ns1:defRPr>
            </ns1:pPr>
            <ns1:r>
              <ns1:rPr sz="5100" b="1">
                <ns1:solidFill>
                  <ns1:srgbClr val="FFFFFF"/>
                </ns1:solidFill>
              </ns1:rPr>
              <ns1:t>AgentMesh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6AA77A93-E97C-435D-A14F-B46AC681B20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81250"/>
            <ns1:ext cx="83820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3225" b="1">
                <ns1:solidFill>
                  <ns1:srgbClr val="FFFFFF"/>
                </ns1:solidFill>
              </ns1:defRPr>
            </ns1:pPr>
            <ns1:r>
              <ns1:rPr sz="3225" b="1">
                <ns1:solidFill>
                  <ns1:srgbClr val="FFFFFF"/>
                </ns1:solidFill>
              </ns1:rPr>
              <ns1:t>让企业 Agent 协作可验证、可治理、可复用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D24009F-21C7-4496-AFDC-1CD39DCC5B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76600"/>
            <ns1:ext cx="723900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725" b="0">
                <ns1:solidFill>
                  <ns1:srgbClr val="DCE2FF"/>
                </ns1:solidFill>
              </ns1:defRPr>
            </ns1:pPr>
            <ns1:r>
              <ns1:rPr sz="1725" b="0">
                <ns1:solidFill>
                  <ns1:srgbClr val="DCE2FF"/>
                </ns1:solidFill>
              </ns1:rPr>
              <ns1:t>以协作黑板 BBS 记录任务事实，以协作图解释工作过程。让研究、数据、风险和项目知识围绕同一目标协同。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FD889DC-2578-4CD3-9E7B-4D14BB58C7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62450"/>
            <ns1:ext cx="118110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BA094920-0962-4B95-89EE-25A1013BF15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438650"/>
            <ns1:ext cx="11811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任务协作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53F5F228-E34B-4CEC-B3BD-79C108DC9756}"/>
              </ns1:ext>
            </ns1:extLst>
          </ns0:cNvPr>
          <ns0:cNvSpPr>
            <ns1:spLocks noGrp="1"/>
          </ns0:cNvSpPr>
          <ns0:nvPr/>
        </ns0:nvSpPr>
        <ns0:spPr>
          <ns1:xfrm>
            <ns1:off x="2000250" y="4362450"/>
            <ns1:ext cx="16954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516622D8-DB83-4E49-9377-8145358BD4B3}"/>
              </ns1:ext>
            </ns1:extLst>
          </ns0:cNvPr>
          <ns0:cNvSpPr>
            <ns1:spLocks noGrp="1"/>
          </ns0:cNvSpPr>
          <ns0:nvPr/>
        </ns0:nvSpPr>
        <ns0:spPr>
          <ns1:xfrm>
            <ns1:off x="2000250" y="4438650"/>
            <ns1:ext cx="1695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证据账本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3AA9FEA-552F-4118-9253-1DA479D11B68}"/>
              </ns1:ext>
            </ns1:extLst>
          </ns0:cNvPr>
          <ns0:cNvSpPr>
            <ns1:spLocks noGrp="1"/>
          </ns0:cNvSpPr>
          <ns0:nvPr/>
        </ns0:nvSpPr>
        <ns0:spPr>
          <ns1:xfrm>
            <ns1:off x="3829050" y="4362450"/>
            <ns1:ext cx="13525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A3B6CA63-68B8-4D09-B2B5-6E0E53D5309C}"/>
              </ns1:ext>
            </ns1:extLst>
          </ns0:cNvPr>
          <ns0:cNvSpPr>
            <ns1:spLocks noGrp="1"/>
          </ns0:cNvSpPr>
          <ns0:nvPr/>
        </ns0:nvSpPr>
        <ns0:spPr>
          <ns1:xfrm>
            <ns1:off x="3829050" y="4438650"/>
            <ns1:ext cx="13525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过程可解释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76AE3DAB-270F-44D9-9FF8-EEC12A4CF6FD}"/>
              </ns1:ext>
            </ns1:extLst>
          </ns0:cNvPr>
          <ns0:cNvSpPr>
            <ns1:spLocks noGrp="1"/>
          </ns0:cNvSpPr>
          <ns0:nvPr/>
        </ns0:nvSpPr>
        <ns0:spPr>
          <ns1:xfrm>
            <ns1:off x="5314950" y="4362450"/>
            <ns1:ext cx="13906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676389B1-7CFA-4391-85AB-C24C5D650020}"/>
              </ns1:ext>
            </ns1:extLst>
          </ns0:cNvPr>
          <ns0:cNvSpPr>
            <ns1:spLocks noGrp="1"/>
          </ns0:cNvSpPr>
          <ns0:nvPr/>
        </ns0:nvSpPr>
        <ns0:spPr>
          <ns1:xfrm>
            <ns1:off x="5314950" y="4438650"/>
            <ns1:ext cx="13906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组织记忆</ns1:t>
            </ns1:r>
          </ns1:p>
        </ns0:txBody>
      </ns0:sp>
    </ns0:spTree>
    <ns0:extLst>
      <ns0:ext uri="{BB962C8B-B14F-4D97-AF65-F5344CB8AC3E}">
        <ns3:creationId val="575811286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0E9F9CA7-6F5A-418E-93A5-C2FB9F4AAA5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6EA31EA3-D54E-45BA-AC95-718B83C2F714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8565F67E-972C-4E19-B674-4C0EA32E3B9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EBFAC75A-B8BC-41B9-846B-29A0AF636DA3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02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DA81910-02CB-41DB-8B7C-6270A0D025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企业已经拥有 AI，却仍缺少可信的协作机制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E304C49-9EE3-4C5C-95B3-6FE9C39482F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238250"/>
            <ns1:ext cx="108204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B8C0D9"/>
                </ns1:solidFill>
              </ns1:defRPr>
            </ns1:pPr>
            <ns1:r>
              <ns1:rPr sz="1425" b="0">
                <ns1:solidFill>
                  <ns1:srgbClr val="B8C0D9"/>
                </ns1:solidFill>
              </ns1:rPr>
              <ns1:t>不是模型不够，而是任务、工具结果、责任和决策没有进入同一条可验证链路。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C9A0503-D81F-4A81-8D07-4445E5827B7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79070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8" name="">
            <ns1:extLst>
              <ns1:ext uri="{FF2B5EF4-FFF2-40B4-BE49-F238E27FC236}">
                <ns2:creationId id="{4A0AA750-1EE1-421A-A270-77620A67F5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790700"/>
            <ns1:ext cx="66675" cy="135255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6EDB7679-F9CC-4FB5-A06F-DB89718E172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0002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上下文断裂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2BF23583-2D28-4B0B-9293-2818E2533618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8125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项目背景散落在聊天、文档、数据系统与个人经验中。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83418DD-67BF-4090-943C-5ABE31B6A802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79070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2" name="">
            <ns1:extLst>
              <ns1:ext uri="{FF2B5EF4-FFF2-40B4-BE49-F238E27FC236}">
                <ns2:creationId id="{49D1ACFF-CFAC-4AF3-9B7B-0D3942DF5D6E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790700"/>
            <ns1:ext cx="66675" cy="135255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2067D350-51FA-4454-AD5F-41CB985C63F9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20002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重复协同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B917DFB-2449-46FE-BF9A-6E03CDA056DE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238125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人不断转述背景、找资料、催确认、汇总结论。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9C785009-22FE-4325-926E-176B64F5342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0995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6" name="">
            <ns1:extLst>
              <ns1:ext uri="{FF2B5EF4-FFF2-40B4-BE49-F238E27FC236}">
                <ns2:creationId id="{44904B0D-2126-46EE-8B8E-B1F2F7729EE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09950"/>
            <ns1:ext cx="66675" cy="135255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D8C9C60E-362E-4938-8FCB-D5E05C86770B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61950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结果不可核验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0AEF07FE-C6DF-4EF3-BF6D-71D53B1D6D5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00050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AI 回答没有来源和责任边界，难以进入正式流程。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304A3C9D-5C8D-44B9-877E-55A4B5D78B42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40995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0" name="">
            <ns1:extLst>
              <ns1:ext uri="{FF2B5EF4-FFF2-40B4-BE49-F238E27FC236}">
                <ns2:creationId id="{C97C15DA-FDF1-4D7C-B1CA-212D8BD6AE29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409950"/>
            <ns1:ext cx="66675" cy="1352550"/>
          </ns1:xfrm>
          <ns1:prstGeom prst="rect">
            <ns1:avLst/>
          </ns1:prstGeom>
          <ns1:solidFill>
            <ns1:srgbClr val="FF6B6B"/>
          </ns1:solidFill>
          <ns1:ln w="0">
            <ns1:solidFill>
              <ns1:srgbClr val="FF6B6B"/>
            </ns1:solidFill>
            <ns1:prstDash val="solid"/>
          </ns1:ln>
        </ns0:spPr>
      </ns0:sp>
      <ns0:sp>
        <ns0:nvSpPr>
          <ns0:cNvPr id="21" name="">
            <ns1:extLst>
              <ns1:ext uri="{FF2B5EF4-FFF2-40B4-BE49-F238E27FC236}">
                <ns2:creationId id="{881450D1-78D7-4EA0-AFAA-6B9C634A3C11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361950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经验无法复用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D3EFEC52-3E88-4920-BA23-6D515F07F02D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400050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项目结束后，证据和决策没有沉淀为下一次工作的输入。</ns1:t>
            </ns1:r>
          </ns1:p>
        </ns0:txBody>
      </ns0:sp>
    </ns0:spTree>
    <ns0:extLst>
      <ns0:ext uri="{BB962C8B-B14F-4D97-AF65-F5344CB8AC3E}">
        <ns3:creationId val="93727790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9AF6B6C7-61BF-4021-9C8A-1DA814528BF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762294A5-7D9A-478B-9AAB-593E37393304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D32AF285-62B2-4900-AD1E-9A1A30EDDECF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07DFDA57-9531-4E0D-98E9-5F4F90E37D88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03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6612651-57E2-4C89-A386-D19E4E7E780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产品定义：企业 Agent 的可信协作运行时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6A2756E-10FC-4776-80BC-DECC2F0557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942975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400" b="1">
                <ns1:solidFill>
                  <ns1:srgbClr val="FFFFFF"/>
                </ns1:solidFill>
              </ns1:defRPr>
            </ns1:pPr>
            <ns1:r>
              <ns1:rPr sz="2400" b="1">
                <ns1:solidFill>
                  <ns1:srgbClr val="FFFFFF"/>
                </ns1:solidFill>
              </ns1:rPr>
              <ns1:t>以任务为单位，把人、Agent、工具与证据组织成一个可推进、可复核的协作闭环。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F1C25FB1-EFE5-4485-AE80-56DAA258BE6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48000"/>
            <ns1:ext cx="3333750" cy="1581150"/>
          </ns1:xfrm>
          <ns1:prstGeom prst="roundRect">
            <ns1:avLst>
              <ns1:gd name="adj" fmla="val 9639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8" name="">
            <ns1:extLst>
              <ns1:ext uri="{FF2B5EF4-FFF2-40B4-BE49-F238E27FC236}">
                <ns2:creationId id="{214E7F9C-92A5-40C8-BBC2-6289FCE733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48000"/>
            <ns1:ext cx="66675" cy="158115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D7A8E4DB-7FBA-4B0B-8973-11D14FA2F2C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575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任务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28C3E70-2E7A-4989-A437-51411AACC567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638550"/>
            <ns1:ext cx="2876550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目标、负责人、完成条件、执行状态和风险边界。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9E0FC37A-7376-41C2-8AC9-FBC928DF7A8E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3048000"/>
            <ns1:ext cx="3333750" cy="1581150"/>
          </ns1:xfrm>
          <ns1:prstGeom prst="roundRect">
            <ns1:avLst>
              <ns1:gd name="adj" fmla="val 9639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2" name="">
            <ns1:extLst>
              <ns1:ext uri="{FF2B5EF4-FFF2-40B4-BE49-F238E27FC236}">
                <ns2:creationId id="{46A32CE1-1EBF-4B6A-81FA-6DBE07BD99C8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3048000"/>
            <ns1:ext cx="66675" cy="158115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49A7581D-5639-46AF-B57F-0D0FE701BCEA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32575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协作黑板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A87E3D48-239E-4F7D-9E9E-06F81E206B3B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3638550"/>
            <ns1:ext cx="2876550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request、evidence、risk、decision、handoff 等结构化事件。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DE6826E7-95A2-493C-9DA1-E6B2FA5106C9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3048000"/>
            <ns1:ext cx="3333750" cy="1581150"/>
          </ns1:xfrm>
          <ns1:prstGeom prst="roundRect">
            <ns1:avLst>
              <ns1:gd name="adj" fmla="val 9639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6" name="">
            <ns1:extLst>
              <ns1:ext uri="{FF2B5EF4-FFF2-40B4-BE49-F238E27FC236}">
                <ns2:creationId id="{FCB6CB88-FC7B-4560-8205-8A0E014F7BAE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3048000"/>
            <ns1:ext cx="66675" cy="158115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7" name="">
            <ns1:extLst>
              <ns1:ext uri="{FF2B5EF4-FFF2-40B4-BE49-F238E27FC236}">
                <ns2:creationId id="{905D7F2B-DB70-4D38-A5D5-E8E05760031D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32575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协作图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2C24A9BB-2C3B-4403-BE02-340D11694EA4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3638550"/>
            <ns1:ext cx="2876550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谁参与、谁负责、卡在哪里、证据从何而来，一眼可见。</ns1:t>
            </ns1:r>
          </ns1:p>
        </ns0:txBody>
      </ns0:sp>
    </ns0:spTree>
    <ns0:extLst>
      <ns0:ext uri="{BB962C8B-B14F-4D97-AF65-F5344CB8AC3E}">
        <ns3:creationId val="1485680793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7B1C65DD-726C-4EDD-90EE-5135131390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06D93A14-7237-4F0E-BD90-D38228EB4C02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0B30E22D-CA8F-42C7-B9AB-8EB1C647F70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3FCCD492-4D9F-425B-BAB3-65B766F950F3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04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FB12C34-DB45-407F-82C5-404E5C591C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BBS：不是论坛，是 Agent 之间的证据与责任账本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725C4D6-FA90-4009-8924-DF31552E9D5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714500"/>
            <ns1:ext cx="3143250" cy="1809750"/>
          </ns1:xfrm>
          <ns1:prstGeom prst="roundRect">
            <ns1:avLst>
              <ns1:gd name="adj" fmla="val 84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7" name="">
            <ns1:extLst>
              <ns1:ext uri="{FF2B5EF4-FFF2-40B4-BE49-F238E27FC236}">
                <ns2:creationId id="{54A6E30C-F1BF-49BB-9B3D-9206F28A9B6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714500"/>
            <ns1:ext cx="66675" cy="180975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42B7E80E-207F-4FAE-912B-FFE251B97D2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924050"/>
            <ns1:ext cx="2686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任务请求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97A6E38-B650-4DEB-AB64-0646FB9CE43B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05050"/>
            <ns1:ext cx="2686050" cy="1028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个人 Agent 在知识不足时创建 request，声明目标、负责人和完成条件。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63A6283-586A-4ED9-A2AF-9334F27AC94B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1714500"/>
            <ns1:ext cx="3143250" cy="1809750"/>
          </ns1:xfrm>
          <ns1:prstGeom prst="roundRect">
            <ns1:avLst>
              <ns1:gd name="adj" fmla="val 84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1" name="">
            <ns1:extLst>
              <ns1:ext uri="{FF2B5EF4-FFF2-40B4-BE49-F238E27FC236}">
                <ns2:creationId id="{31C74EDC-8D2C-449F-9263-F299A7433E0B}"/>
              </ns1:ext>
            </ns1:extLst>
          </ns0:cNvPr>
          <ns0:cNvSpPr>
            <ns1:spLocks noGrp="1"/>
          </ns0:cNvSpPr>
          <ns0:nvPr/>
        </ns0:nvSpPr>
        <ns0:spPr>
          <ns1:xfrm>
            <ns1:off x="4524375" y="1714500"/>
            <ns1:ext cx="66675" cy="180975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C2036496-5C7A-4BB3-B3D2-408E79FD98AB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1924050"/>
            <ns1:ext cx="2686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证据与风险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8FDAEFBB-B949-4E18-9396-A074DC1A9BD0}"/>
              </ns1:ext>
            </ns1:extLst>
          </ns0:cNvPr>
          <ns0:cNvSpPr>
            <ns1:spLocks noGrp="1"/>
          </ns0:cNvSpPr>
          <ns0:nvPr/>
        </ns0:nvSpPr>
        <ns0:spPr>
          <ns1:xfrm>
            <ns1:off x="4752975" y="2305050"/>
            <ns1:ext cx="2686050" cy="1028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research、data、document 提交 evidence；可疑外部内容隔离，高风险动作进入 Inbox。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14B3C9F1-F327-4E95-A385-C378DD1C402A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1714500"/>
            <ns1:ext cx="3143250" cy="1809750"/>
          </ns1:xfrm>
          <ns1:prstGeom prst="roundRect">
            <ns1:avLst>
              <ns1:gd name="adj" fmla="val 84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5" name="">
            <ns1:extLst>
              <ns1:ext uri="{FF2B5EF4-FFF2-40B4-BE49-F238E27FC236}">
                <ns2:creationId id="{80784D80-D4F9-4315-A1A7-AF579D255873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1714500"/>
            <ns1:ext cx="66675" cy="180975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D6D411BD-FA30-459C-A19B-FA887A423837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1924050"/>
            <ns1:ext cx="2686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结构化交接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F6F53CC3-9208-410B-AAC5-8F0D7EB7D740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2305050"/>
            <ns1:ext cx="2686050" cy="1028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handoff 明确当前结果、阻塞点、下一负责人和完成标准，并保留来源、权限和时间。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60C8D63E-E3D3-47BD-AA99-86D805A8CF64}"/>
              </ns1:ext>
            </ns1:extLst>
          </ns0:cNvPr>
          <ns0:cNvSpPr>
            <ns1:spLocks noGrp="1"/>
          </ns0:cNvSpPr>
          <ns0:nvPr/>
        </ns0:nvSpPr>
        <ns0:spPr>
          <ns1:xfrm>
            <ns1:off x="1447800" y="4248150"/>
            <ns1:ext cx="93345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250" b="1">
                <ns1:solidFill>
                  <ns1:srgbClr val="FFFFFF"/>
                </ns1:solidFill>
              </ns1:defRPr>
            </ns1:pPr>
            <ns1:r>
              <ns1:rPr sz="2250" b="1">
                <ns1:solidFill>
                  <ns1:srgbClr val="FFFFFF"/>
                </ns1:solidFill>
              </ns1:rPr>
              <ns1:t>把协作从难以追溯的聊天记录，转化为企业能够核验和管理的任务事实。</ns1:t>
            </ns1:r>
          </ns1:p>
        </ns0:txBody>
      </ns0:sp>
    </ns0:spTree>
    <ns0:extLst>
      <ns0:ext uri="{BB962C8B-B14F-4D97-AF65-F5344CB8AC3E}">
        <ns3:creationId val="28366540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A3191D05-7C1F-43F3-86D3-006F2E26CED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A58F9130-F8D9-4FF2-B347-B0FDB1873875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D65811AF-CF23-4F60-84D2-86F5D748577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975372EE-F00D-4481-8845-1E7C976BFA38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05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F5FEBBC9-32C7-4E48-BD67-70DFC5A2E3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当前闭环：从用户目标到带来源的协作结果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49DA103-0443-4FEC-B38E-259A8DD56F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238250"/>
            <ns1:ext cx="108204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B8C0D9"/>
                </ns1:solidFill>
              </ns1:defRPr>
            </ns1:pPr>
            <ns1:r>
              <ns1:rPr sz="1425" b="0">
                <ns1:solidFill>
                  <ns1:srgbClr val="B8C0D9"/>
                </ns1:solidFill>
              </ns1:rPr>
              <ns1:t>AI-native 的关键不是自由聊天，而是让 Agent 在任务、权限、证据和停止条件内连续推进。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EAB55E8-419A-4FD1-9BC6-D7EF4D641B1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07645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3786D6A7-F44E-461A-8F10-499F55CA5A75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22885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1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3F503F3-7A94-4F43-8DF7-EA3A63AEB20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59080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用户发起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E6ACB2F-FF20-4A14-A1D7-089CD349AF4B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89560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从 Chat 或业务入口提出检索、数据、风险或文档目标。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5FD1566-306A-4488-8DFB-4A29A40454AA}"/>
              </ns1:ext>
            </ns1:extLst>
          </ns0:cNvPr>
          <ns0:cNvSpPr>
            <ns1:spLocks noGrp="1"/>
          </ns0:cNvSpPr>
          <ns0:nvPr/>
        </ns0:nvSpPr>
        <ns0:spPr>
          <ns1:xfrm>
            <ns1:off x="2884170" y="207645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8C2F7040-1953-417C-B9CA-AD9FB70BA3B8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22885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2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C71591E-D7C2-4F7A-96BA-B519FC870AE4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59080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创建任务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39247B6-6413-4563-B984-B17B5453E6DE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89560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Task 与 BBS request 记录协作目标、参与者和完成条件。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EC52A5E7-AD22-4E37-8600-332C83A2FC75}"/>
              </ns1:ext>
            </ns1:extLst>
          </ns0:cNvPr>
          <ns0:cNvSpPr>
            <ns1:spLocks noGrp="1"/>
          </ns0:cNvSpPr>
          <ns0:nvPr/>
        </ns0:nvSpPr>
        <ns0:spPr>
          <ns1:xfrm>
            <ns1:off x="5082540" y="207645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F0407598-48DA-43CA-B249-95D5BBDCC07C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22885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3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687791FA-0179-4385-AB60-175683DD5D12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59080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能力执行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423414F9-E68A-46CA-BCB0-61F9CCC91964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89560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research、data、risk Agent 在已授权工具范围内取证或审查。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3FC635DF-17E5-49F8-951F-9C5C70A31EE2}"/>
              </ns1:ext>
            </ns1:extLst>
          </ns0:cNvPr>
          <ns0:cNvSpPr>
            <ns1:spLocks noGrp="1"/>
          </ns0:cNvSpPr>
          <ns0:nvPr/>
        </ns0:nvSpPr>
        <ns0:spPr>
          <ns1:xfrm>
            <ns1:off x="7280910" y="207645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847EF2A0-F0AB-49A2-B15F-9BC6DFABF033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22885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EB5FBCE-1C28-42DE-97D6-7BE6463EC981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59080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风险治理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09B01FAC-BC6F-4689-AB7E-C1107C304960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89560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外部资料在进入模型合成前检查；高风险行为转人工确认。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11E5FE79-F8DF-40EC-920B-C1E15C20AD3D}"/>
              </ns1:ext>
            </ns1:extLst>
          </ns0:cNvPr>
          <ns0:cNvSpPr>
            <ns1:spLocks noGrp="1"/>
          </ns0:cNvSpPr>
          <ns0:nvPr/>
        </ns0:nvSpPr>
        <ns0:spPr>
          <ns1:xfrm>
            <ns1:off x="9479280" y="207645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EBDD8D45-A64A-4FFD-A681-1EC29B0BCF33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22885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5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5F15A1C0-9571-4561-8515-6C842B4FA8A0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59080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结果沉淀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FE0C1BED-FA56-421A-AF09-7329AFBAEEDE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89560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带来源结果返回用户，并可提升为候选项目或团队记忆。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14636F76-9437-47DF-B3CB-306DE0B0F2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76700"/>
            <ns1:ext cx="10820400" cy="1066800"/>
          </ns1:xfrm>
          <ns1:prstGeom prst="roundRect">
            <ns1:avLst>
              <ns1:gd name="adj" fmla="val 14286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8" name="">
            <ns1:extLst>
              <ns1:ext uri="{FF2B5EF4-FFF2-40B4-BE49-F238E27FC236}">
                <ns2:creationId id="{15CDACD4-D40F-4DCB-B862-E5253562400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76700"/>
            <ns1:ext cx="66675" cy="106680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29" name="">
            <ns1:extLst>
              <ns1:ext uri="{FF2B5EF4-FFF2-40B4-BE49-F238E27FC236}">
                <ns2:creationId id="{89534357-FC1C-47E1-BA5E-CC94FF635197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286250"/>
            <ns1:ext cx="103632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治理底座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3C4D01F7-DF4F-482C-BB66-69228048E43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667250"/>
            <ns1:ext cx="103632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权限、工具授权、来源、风险策略、人审和审计日志贯穿全流程。</ns1:t>
            </ns1:r>
          </ns1:p>
        </ns0:txBody>
      </ns0:sp>
    </ns0:spTree>
    <ns0:extLst>
      <ns0:ext uri="{BB962C8B-B14F-4D97-AF65-F5344CB8AC3E}">
        <ns3:creationId val="104234908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861E4FF7-D9B5-4001-9E0A-7214F81B3B6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5199C623-F819-4217-A0B2-D24E7BB142BB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EAEB2EFB-2974-4575-9D16-F039771A7307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FEC73975-4EA1-4323-9540-EF53EDC4BA00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06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665CC2F-1EF4-48ED-AD79-61B13629015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协作图：把黑箱 Agent 执行变成可解释的任务地图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A384CCD-5372-4EF1-8DD3-1B2D96EB1BA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3333750" cy="2095500"/>
          </ns1:xfrm>
          <ns1:prstGeom prst="roundRect">
            <ns1:avLst>
              <ns1:gd name="adj" fmla="val 7273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7" name="">
            <ns1:extLst>
              <ns1:ext uri="{FF2B5EF4-FFF2-40B4-BE49-F238E27FC236}">
                <ns2:creationId id="{DFE48348-76EE-4D29-9A96-ACAE6BB2029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66675" cy="209550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272261E5-03D7-4178-B766-DF20155718F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8478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任务泳道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89B4E4B-637B-40DF-958C-31C566BC04F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228850"/>
            <ns1:ext cx="2876550" cy="1314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按 Task 聚合 request、evidence、risk、handoff 与当前协作阶段。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847315CA-AEBE-4F3E-BF07-4CB53D64AAF7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1638300"/>
            <ns1:ext cx="3333750" cy="2095500"/>
          </ns1:xfrm>
          <ns1:prstGeom prst="roundRect">
            <ns1:avLst>
              <ns1:gd name="adj" fmla="val 7273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1" name="">
            <ns1:extLst>
              <ns1:ext uri="{FF2B5EF4-FFF2-40B4-BE49-F238E27FC236}">
                <ns2:creationId id="{09157516-435E-48E0-9510-F6C5970A11F2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1638300"/>
            <ns1:ext cx="66675" cy="209550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BBD6E027-2EC3-489B-A6CA-FB28B34F3997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18478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责任与关系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AD43CB7-CF4A-4278-83C1-A814105ABFDD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2228850"/>
            <ns1:ext cx="2876550" cy="1314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显示当前 owner、执行锁、上下游参与者和关联事件，解释证据、修正、决策和交接。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02B6902-2516-4C84-8138-16887A1674F8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1638300"/>
            <ns1:ext cx="3333750" cy="2095500"/>
          </ns1:xfrm>
          <ns1:prstGeom prst="roundRect">
            <ns1:avLst>
              <ns1:gd name="adj" fmla="val 7273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5" name="">
            <ns1:extLst>
              <ns1:ext uri="{FF2B5EF4-FFF2-40B4-BE49-F238E27FC236}">
                <ns2:creationId id="{37C25DF2-74A3-4AC3-9322-5E61F3BD659D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1638300"/>
            <ns1:ext cx="66675" cy="209550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17DAE9B2-85CE-42FF-810F-4F6E3E891EC7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184785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管理可行动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3F4E7890-EA04-4545-997C-192B7720FC77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2228850"/>
            <ns1:ext cx="2876550" cy="1314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流程图和时间线帮助负责人快速发现等待外部能力、风险隔离和待人工确认任务。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10D40B52-4244-4900-920E-412A4EE68017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4419600"/>
            <ns1:ext cx="85725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2250" b="1">
                <ns1:solidFill>
                  <ns1:srgbClr val="FFFFFF"/>
                </ns1:solidFill>
              </ns1:defRPr>
            </ns1:pPr>
            <ns1:r>
              <ns1:rPr sz="2250" b="1">
                <ns1:solidFill>
                  <ns1:srgbClr val="FFFFFF"/>
                </ns1:solidFill>
              </ns1:rPr>
              <ns1:t>协作图的价值不是展示炫技，而是把每个任务的状态、责任与阻塞转化为可行动的信息。</ns1:t>
            </ns1:r>
          </ns1:p>
        </ns0:txBody>
      </ns0:sp>
    </ns0:spTree>
    <ns0:extLst>
      <ns0:ext uri="{BB962C8B-B14F-4D97-AF65-F5344CB8AC3E}">
        <ns3:creationId val="552373868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58971BCA-7226-4576-B249-665859D8D16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EC8EAC07-E7F5-43D9-88BA-C7092BDED7B7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A556475B-CD3F-4BB3-9180-27CE69513D38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8B4D7399-4B9D-4226-8545-CA709FBAC93F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07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7A404D7-EF6F-48AB-ADD2-EB1C501C346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一个可演示的协作闭环：知识不足时，系统自动补证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FEACBC7-3B86-4599-BDB2-56A18790AD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238250"/>
            <ns1:ext cx="108204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0">
                <ns1:solidFill>
                  <ns1:srgbClr val="B8C0D9"/>
                </ns1:solidFill>
              </ns1:defRPr>
            </ns1:pPr>
            <ns1:r>
              <ns1:rPr sz="1425" b="0">
                <ns1:solidFill>
                  <ns1:srgbClr val="B8C0D9"/>
                </ns1:solidFill>
              </ns1:rPr>
              <ns1:t>当前原型已跑通 request -&gt; evidence -&gt; 风险隔离或合成回复的受控闭环。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B8E02DF6-4BDF-445D-86B6-E3B5383050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09550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280E1292-42CB-41A2-902D-99D96FAC17D1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24790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1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EB239BC-E2D4-4E67-A4AF-0B9F486E38E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60985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提出问题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D54D2488-3CB8-47E2-9B55-F3CCF22F4AF3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91465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用户查询项目经验，个人 Agent 先检索可见记忆。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687171BC-5CA9-49E9-B754-2DCE6399AB5E}"/>
              </ns1:ext>
            </ns1:extLst>
          </ns0:cNvPr>
          <ns0:cNvSpPr>
            <ns1:spLocks noGrp="1"/>
          </ns0:cNvSpPr>
          <ns0:nvPr/>
        </ns0:nvSpPr>
        <ns0:spPr>
          <ns1:xfrm>
            <ns1:off x="2884170" y="209550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8C9ED40C-0A9C-4EEE-A456-2CA09F2E777C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24790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2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5A168606-C864-4FDA-8491-0B5D7871B208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60985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发起求助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C725EFBA-FCCA-4541-9047-35039C3A7345}"/>
              </ns1:ext>
            </ns1:extLst>
          </ns0:cNvPr>
          <ns0:cNvSpPr>
            <ns1:spLocks noGrp="1"/>
          </ns0:cNvSpPr>
          <ns0:nvPr/>
        </ns0:nvSpPr>
        <ns0:spPr>
          <ns1:xfrm>
            <ns1:off x="3055620" y="291465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记忆不足时创建 BBS request，任务进入等待外部 Agent。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4FB832A1-9F1D-4B85-917A-36833A0BA154}"/>
              </ns1:ext>
            </ns1:extLst>
          </ns0:cNvPr>
          <ns0:cNvSpPr>
            <ns1:spLocks noGrp="1"/>
          </ns0:cNvSpPr>
          <ns0:nvPr/>
        </ns0:nvSpPr>
        <ns0:spPr>
          <ns1:xfrm>
            <ns1:off x="5082540" y="209550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417C71F5-1BAD-4C77-8EAC-CF27872D1CBB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24790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3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D0EE932B-020A-4C7E-9986-6A0878FCCA96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60985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补充证据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8A82572-7EF6-4B14-97F8-38DE30EBF2EA}"/>
              </ns1:ext>
            </ns1:extLst>
          </ns0:cNvPr>
          <ns0:cNvSpPr>
            <ns1:spLocks noGrp="1"/>
          </ns0:cNvSpPr>
          <ns0:nvPr/>
        </ns0:nvSpPr>
        <ns0:spPr>
          <ns1:xfrm>
            <ns1:off x="5253990" y="291465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research_agent 获取资料，返回带来源的 evidence 回帖。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420ACB47-B1F7-47FD-A5C0-3CE52056B80A}"/>
              </ns1:ext>
            </ns1:extLst>
          </ns0:cNvPr>
          <ns0:cNvSpPr>
            <ns1:spLocks noGrp="1"/>
          </ns0:cNvSpPr>
          <ns0:nvPr/>
        </ns0:nvSpPr>
        <ns0:spPr>
          <ns1:xfrm>
            <ns1:off x="7280910" y="209550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FF2B3470-6BB6-4128-A7A7-6294DFA29B96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24790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4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908A4104-678D-4162-9107-FB16E7193B8A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60985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风险检查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33878FB6-BDC7-4D79-938C-0F60AB1A821A}"/>
              </ns1:ext>
            </ns1:extLst>
          </ns0:cNvPr>
          <ns0:cNvSpPr>
            <ns1:spLocks noGrp="1"/>
          </ns0:cNvSpPr>
          <ns0:nvPr/>
        </ns0:nvSpPr>
        <ns0:spPr>
          <ns1:xfrm>
            <ns1:off x="7452360" y="291465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可疑内容隔离审核，安全证据才能参与最终回答。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629895C1-63CA-4A3E-BC3D-E4BAFC656BDC}"/>
              </ns1:ext>
            </ns1:extLst>
          </ns0:cNvPr>
          <ns0:cNvSpPr>
            <ns1:spLocks noGrp="1"/>
          </ns0:cNvSpPr>
          <ns0:nvPr/>
        </ns0:nvSpPr>
        <ns0:spPr>
          <ns1:xfrm>
            <ns1:off x="9479280" y="2095500"/>
            <ns1:ext cx="2026920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4" name="">
            <ns1:extLst>
              <ns1:ext uri="{FF2B5EF4-FFF2-40B4-BE49-F238E27FC236}">
                <ns2:creationId id="{B6AAA853-6210-467E-933F-11B1865AA1F5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247900"/>
            <ns1:ext cx="361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800" b="1">
                <ns1:solidFill>
                  <ns1:srgbClr val="15D6B3"/>
                </ns1:solidFill>
              </ns1:defRPr>
            </ns1:pPr>
            <ns1:r>
              <ns1:rPr sz="1800" b="1">
                <ns1:solidFill>
                  <ns1:srgbClr val="15D6B3"/>
                </ns1:solidFill>
              </ns1:rPr>
              <ns1:t>5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CFDEA5AF-515E-4FE4-ACB6-D5A5B5F0D715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609850"/>
            <ns1:ext cx="168402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425" b="1">
                <ns1:solidFill>
                  <ns1:srgbClr val="FFFFFF"/>
                </ns1:solidFill>
              </ns1:defRPr>
            </ns1:pPr>
            <ns1:r>
              <ns1:rPr sz="1425" b="1">
                <ns1:solidFill>
                  <ns1:srgbClr val="FFFFFF"/>
                </ns1:solidFill>
              </ns1:rPr>
              <ns1:t>回流复用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4181C479-3C36-4E41-84CF-CB7FD9BFE8C4}"/>
              </ns1:ext>
            </ns1:extLst>
          </ns0:cNvPr>
          <ns0:cNvSpPr>
            <ns1:spLocks noGrp="1"/>
          </ns0:cNvSpPr>
          <ns0:nvPr/>
        </ns0:nvSpPr>
        <ns0:spPr>
          <ns1:xfrm>
            <ns1:off x="9650730" y="2914650"/>
            <ns1:ext cx="168402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050" b="0">
                <ns1:solidFill>
                  <ns1:srgbClr val="B8C0D9"/>
                </ns1:solidFill>
              </ns1:defRPr>
            </ns1:pPr>
            <ns1:r>
              <ns1:rPr sz="1050" b="0">
                <ns1:solidFill>
                  <ns1:srgbClr val="B8C0D9"/>
                </ns1:solidFill>
              </ns1:rPr>
              <ns1:t>任务完成、协作图更新，高价值结果可生成记忆候选。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2D876D3D-2C10-47D4-8304-FC70364103C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71950"/>
            <ns1:ext cx="108204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800" b="0">
                <ns1:solidFill>
                  <ns1:srgbClr val="FFFFFF"/>
                </ns1:solidFill>
              </ns1:defRPr>
            </ns1:pPr>
            <ns1:r>
              <ns1:rPr sz="1800" b="0">
                <ns1:solidFill>
                  <ns1:srgbClr val="FFFFFF"/>
                </ns1:solidFill>
              </ns1:rPr>
              <ns1:t>任务卡、BBS、锁、交接、派发、风险隔离和协作图已具备；通用多 Agent DAG 是下一阶段。</ns1:t>
            </ns1:r>
          </ns1:p>
        </ns0:txBody>
      </ns0:sp>
    </ns0:spTree>
    <ns0:extLst>
      <ns0:ext uri="{BB962C8B-B14F-4D97-AF65-F5344CB8AC3E}">
        <ns3:creationId val="1824696211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C8DC4D01-DA8B-4C61-894B-B5EC349FBD1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C3C1603C-2A33-493A-A8F3-13B7D0699F3A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BF36776E-1FD2-463E-870E-913F279E08B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77EF46F3-5139-4013-B470-7860CE0853A8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08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C22D83BC-50CB-4D2A-9FED-10A2EF1807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产品价值：让每一次 AI 协作留下可复用的组织资产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37F427A4-6E1D-405A-9F5E-D129C5A1D6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7" name="">
            <ns1:extLst>
              <ns1:ext uri="{FF2B5EF4-FFF2-40B4-BE49-F238E27FC236}">
                <ns2:creationId id="{E1BBB1F1-9425-48D1-9DD1-30F51B24B93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66675" cy="135255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79325ACC-A97E-4161-B0CF-0172E9A33F7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8478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减少协同成本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3A3B5202-F25F-4758-9172-1BA5DCEE79F8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22885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减少重复解释、跨角色信息搬运和结果追问。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45221C76-D020-48C2-8C61-B620E7F5BE72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63830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1" name="">
            <ns1:extLst>
              <ns1:ext uri="{FF2B5EF4-FFF2-40B4-BE49-F238E27FC236}">
                <ns2:creationId id="{D1A6EB3D-BCC2-47BB-A67D-33E79573C4BA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638300"/>
            <ns1:ext cx="66675" cy="135255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CE33645F-E5BD-4C7F-A843-EBA2F6D79F94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18478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提高结果可信度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84A8F4F8-3316-4CAB-9031-79A38C668C9E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222885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每个结论可追到来源、执行者、风险状态和确认记录。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A7530527-6152-43A7-A751-96B04AF17D6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5755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5" name="">
            <ns1:extLst>
              <ns1:ext uri="{FF2B5EF4-FFF2-40B4-BE49-F238E27FC236}">
                <ns2:creationId id="{F9423508-7B22-4EFB-8CAE-D7057DD932D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57550"/>
            <ns1:ext cx="66675" cy="135255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E9C377CC-4862-466F-9774-894AA0961E2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46710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缩短问题闭环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5967131-57CF-45C7-9597-16D2460E9F1A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84810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任务状态、负责人和阻塞原因可见，人工介入只出现在需要判断的节点。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2D5F7719-A1F7-4BF1-AFAB-8085D1AB89FB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257550"/>
            <ns1:ext cx="5095875" cy="1352550"/>
          </ns1:xfrm>
          <ns1:prstGeom prst="roundRect">
            <ns1:avLst>
              <ns1:gd name="adj" fmla="val 11268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9" name="">
            <ns1:extLst>
              <ns1:ext uri="{FF2B5EF4-FFF2-40B4-BE49-F238E27FC236}">
                <ns2:creationId id="{7D6CACF3-3971-4350-9881-29315177935A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257550"/>
            <ns1:ext cx="66675" cy="1352550"/>
          </ns1:xfrm>
          <ns1:prstGeom prst="rect">
            <ns1:avLst/>
          </ns1:prstGeom>
          <ns1:solidFill>
            <ns1:srgbClr val="FF6B6B"/>
          </ns1:solidFill>
          <ns1:ln w="0">
            <ns1:solidFill>
              <ns1:srgbClr val="FF6B6B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550AE789-DB5E-4BA0-857F-6EA1404EA718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346710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沉淀项目记忆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5D86513-F445-4C00-AAD5-47F044BA498B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3848100"/>
            <ns1:ext cx="4638675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证据与决策进入候选记忆，确认后反哺下一次项目任务。</ns1:t>
            </ns1:r>
          </ns1:p>
        </ns0:txBody>
      </ns0:sp>
    </ns0:spTree>
    <ns0:extLst>
      <ns0:ext uri="{BB962C8B-B14F-4D97-AF65-F5344CB8AC3E}">
        <ns3:creationId val="1934047869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48ACBF69-D286-4EDD-9D0B-583DE02C9E7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08D432E1-BB88-4642-BDE9-25CA5194D29B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6622AD65-6A79-4101-9E1D-2710F57A1A4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C3114C0E-1130-40DF-8248-0D26C9969602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09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5477C84-E2E9-4710-A046-AF0095E3A70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竞争格局：平台正在做 Agent，缺的是项目协作的可信执行层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4111C97-5763-499C-B5AC-A9FD6FDF62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4953000" cy="2000250"/>
          </ns1:xfrm>
          <ns1:prstGeom prst="roundRect">
            <ns1:avLst>
              <ns1:gd name="adj" fmla="val 7619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7" name="">
            <ns1:extLst>
              <ns1:ext uri="{FF2B5EF4-FFF2-40B4-BE49-F238E27FC236}">
                <ns2:creationId id="{84B85DC1-1DE0-4DAC-82D9-333FC0D833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38300"/>
            <ns1:ext cx="66675" cy="200025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BB5FF0DD-B2B7-4C09-B98A-1DC736CD690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847850"/>
            <ns1:ext cx="44958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企业搜索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E726E550-92B3-4EBA-BFE9-7169291E72E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228850"/>
            <ns1:ext cx="4495800" cy="1219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Glean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D58087A-1E97-44D3-A58B-CB259E84642E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" y="2171700"/>
            <ns1:ext cx="24765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4650" b="1">
                <ns1:solidFill>
                  <ns1:srgbClr val="15D6B3"/>
                </ns1:solidFill>
              </ns1:defRPr>
            </ns1:pPr>
            <ns1:r>
              <ns1:rPr sz="4650" b="1">
                <ns1:solidFill>
                  <ns1:srgbClr val="15D6B3"/>
                </ns1:solidFill>
              </ns1:rPr>
              <ns1:t>企业上下文与 Agent builder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32B890D0-2ACC-4EAD-8C55-BCD8BEFF0623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1638300"/>
            <ns1:ext cx="5143500" cy="2000250"/>
          </ns1:xfrm>
          <ns1:prstGeom prst="roundRect">
            <ns1:avLst>
              <ns1:gd name="adj" fmla="val 7619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2" name="">
            <ns1:extLst>
              <ns1:ext uri="{FF2B5EF4-FFF2-40B4-BE49-F238E27FC236}">
                <ns2:creationId id="{61248D70-5154-4CDC-A512-DCFE91E61705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1638300"/>
            <ns1:ext cx="66675" cy="200025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13" name="">
            <ns1:extLst>
              <ns1:ext uri="{FF2B5EF4-FFF2-40B4-BE49-F238E27FC236}">
                <ns2:creationId id="{3D30A8E8-CBEE-4EB4-BA66-1E227D83FB09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1847850"/>
            <ns1:ext cx="46863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项目协作证据链与记忆候选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AAE113E6-99C8-400D-AF98-25F14226983F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2228850"/>
            <ns1:ext cx="4686300" cy="1219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办公套件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61723AD-3F4B-4F13-95C1-431C28C76262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2171700"/>
            <ns1:ext cx="28575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4125" b="1">
                <ns1:solidFill>
                  <ns1:srgbClr val="7C5CFF"/>
                </ns1:solidFill>
              </ns1:defRPr>
            </ns1:pPr>
            <ns1:r>
              <ns1:rPr sz="4125" b="1">
                <ns1:solidFill>
                  <ns1:srgbClr val="7C5CFF"/>
                </ns1:solidFill>
              </ns1:rPr>
              <ns1:t>Copilot Studio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2FC3B309-74CB-4AE4-BEF6-A18CC0B15C6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3333750" cy="876300"/>
          </ns1:xfrm>
          <ns1:prstGeom prst="roundRect">
            <ns1:avLst>
              <ns1:gd name="adj" fmla="val 1739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7" name="">
            <ns1:extLst>
              <ns1:ext uri="{FF2B5EF4-FFF2-40B4-BE49-F238E27FC236}">
                <ns2:creationId id="{A15CDECB-636F-4C2D-B9D3-58D1CE8EC78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66675" cy="87630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8" name="">
            <ns1:extLst>
              <ns1:ext uri="{FF2B5EF4-FFF2-40B4-BE49-F238E27FC236}">
                <ns2:creationId id="{E4490C3E-50CF-44ED-8EA6-49266D6AE4D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30530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M365 集成与低代码编排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AF0E104-C251-44FB-B8BC-AFB88E71F14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686300"/>
            <ns1:ext cx="2876550" cy="95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异构项目能力的协作协议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A196F177-F22C-4112-923E-FD6EF39D9251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4095750"/>
            <ns1:ext cx="3333750" cy="876300"/>
          </ns1:xfrm>
          <ns1:prstGeom prst="roundRect">
            <ns1:avLst>
              <ns1:gd name="adj" fmla="val 1739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1" name="">
            <ns1:extLst>
              <ns1:ext uri="{FF2B5EF4-FFF2-40B4-BE49-F238E27FC236}">
                <ns2:creationId id="{95F9D520-0784-4D96-88B7-4F6653988CC8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4095750"/>
            <ns1:ext cx="66675" cy="87630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22" name="">
            <ns1:extLst>
              <ns1:ext uri="{FF2B5EF4-FFF2-40B4-BE49-F238E27FC236}">
                <ns2:creationId id="{09CC86C7-FC31-43F6-999D-B20C5B74EB7F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430530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业务平台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D349B077-137A-47E4-ABE2-20EF495A6F4C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4686300"/>
            <ns1:ext cx="2876550" cy="95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Agentforce / ServiceNow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629CB7EE-5EBB-40AC-907D-354C49AF8D59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4095750"/>
            <ns1:ext cx="3333750" cy="876300"/>
          </ns1:xfrm>
          <ns1:prstGeom prst="roundRect">
            <ns1:avLst>
              <ns1:gd name="adj" fmla="val 1739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5" name="">
            <ns1:extLst>
              <ns1:ext uri="{FF2B5EF4-FFF2-40B4-BE49-F238E27FC236}">
                <ns2:creationId id="{27890263-B38E-47DA-BC53-E3D56495C1A9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4095750"/>
            <ns1:ext cx="66675" cy="87630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26" name="">
            <ns1:extLst>
              <ns1:ext uri="{FF2B5EF4-FFF2-40B4-BE49-F238E27FC236}">
                <ns2:creationId id="{E47F04A0-F402-4984-BD42-533E11203E59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4305300"/>
            <ns1:ext cx="28765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CRM、ITSM 与流程自动化</ns1:t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3029C829-154B-4783-850A-CAD865DDD5AC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4686300"/>
            <ns1:ext cx="2876550" cy="95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知识密集团队的项目任务闭环</ns1:t>
            </ns1:r>
          </ns1:p>
        </ns0:txBody>
      </ns0:sp>
    </ns0:spTree>
    <ns0:extLst>
      <ns0:ext uri="{BB962C8B-B14F-4D97-AF65-F5344CB8AC3E}">
        <ns3:creationId val="2027366605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68728E6F-4498-4278-9F6B-77DBB481E65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2BE40244-7996-4F32-9A1A-7CABC81DF415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47E7DB07-4C13-4A68-AA80-C3C7DA28C06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5EEB75A2-F206-4315-A940-EB522B9989CC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10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5EA9F51-96B6-4F88-ADE2-742DBBD95E4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差异化：从“调用 Agent”走向“治理协作结果”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ADDB9050-4B44-44FF-8944-FBA7C4EDD718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1752600"/>
            <ns1:ext cx="1619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FFFFFF"/>
                </ns1:solidFill>
              </ns1:defRPr>
            </ns1:pPr>
            <ns1:r>
              <ns1:rPr sz="1275" b="1">
                <ns1:solidFill>
                  <ns1:srgbClr val="FFFFFF"/>
                </ns1:solidFill>
              </ns1:rPr>
              <ns1:t>维度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308865D-BE0F-4C07-9CCF-EEED9E25EF47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1752600"/>
            <ns1:ext cx="40005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FFFFFF"/>
                </ns1:solidFill>
              </ns1:defRPr>
            </ns1:pPr>
            <ns1:r>
              <ns1:rPr sz="1275" b="1">
                <ns1:solidFill>
                  <ns1:srgbClr val="FFFFFF"/>
                </ns1:solidFill>
              </ns1:rPr>
              <ns1:t>通用 Agent 平台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99FFB249-7C2B-4FC6-B241-0A820002019E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1752600"/>
            <ns1:ext cx="52006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1">
                <ns1:solidFill>
                  <ns1:srgbClr val="15D6B3"/>
                </ns1:solidFill>
              </ns1:defRPr>
            </ns1:pPr>
            <ns1:r>
              <ns1:rPr sz="1275" b="1">
                <ns1:solidFill>
                  <ns1:srgbClr val="15D6B3"/>
                </ns1:solidFill>
              </ns1:rPr>
              <ns1:t>AgentMesh 协作运行时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A54692E5-EE37-4501-B888-DF01CEB55B4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10820400" cy="628650"/>
          </ns1:xfrm>
          <ns1:prstGeom prst="rect">
            <ns1:avLst/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BA03FC53-046E-4AD3-82E1-0F25E5499F8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9800"/>
            <ns1:ext cx="10820400" cy="628650"/>
          </ns1:xfrm>
          <ns1:prstGeom prst="rect">
            <ns1:avLst/>
          </ns1:prstGeom>
          <ns1:solidFill>
            <ns1:srgbClr val="141C32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C1F8CCFD-2F6E-41F3-97FF-235DA474198B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400300"/>
            <ns1:ext cx="1352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核心对象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3FA2B303-15D7-4B92-9B44-CD26C7DBE550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2400300"/>
            <ns1:ext cx="3733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B8C0D9"/>
                </ns1:solidFill>
              </ns1:defRPr>
            </ns1:pPr>
            <ns1:r>
              <ns1:rPr sz="1200" b="0">
                <ns1:solidFill>
                  <ns1:srgbClr val="B8C0D9"/>
                </ns1:solidFill>
              </ns1:rPr>
              <ns1:t>Agent、工具或工作流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36DCC32D-9469-4931-86E7-9933B820A4DF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2400300"/>
            <ns1:ext cx="493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Task、证据、风险、决策与交接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67298280-1513-4659-8AF0-937B293C00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38450"/>
            <ns1:ext cx="10820400" cy="628650"/>
          </ns1:xfrm>
          <ns1:prstGeom prst="rect">
            <ns1:avLst/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B3C26E55-7D11-4F43-997B-8DC29543BA4D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028950"/>
            <ns1:ext cx="1352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协作过程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C36EE8AA-5C0C-425D-AE36-7DAA08BB3055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3028950"/>
            <ns1:ext cx="3733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B8C0D9"/>
                </ns1:solidFill>
              </ns1:defRPr>
            </ns1:pPr>
            <ns1:r>
              <ns1:rPr sz="1200" b="0">
                <ns1:solidFill>
                  <ns1:srgbClr val="B8C0D9"/>
                </ns1:solidFill>
              </ns1:rPr>
              <ns1:t>偏向编排执行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4B7E6568-9EC1-475C-AA82-82A856D70EB6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3028950"/>
            <ns1:ext cx="493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结构化事件账本 + 责任链 + 协作图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41152136-413E-4EC5-8CAB-3387AECC498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67100"/>
            <ns1:ext cx="10820400" cy="628650"/>
          </ns1:xfrm>
          <ns1:prstGeom prst="rect">
            <ns1:avLst/>
          </ns1:prstGeom>
          <ns1:solidFill>
            <ns1:srgbClr val="141C32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2:creationId id="{9E660CBE-5955-4BC0-B308-B8FC74120443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657600"/>
            <ns1:ext cx="1352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结果可信度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36D8B2B3-BB0C-4E7E-8E23-79B5D4375AD9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3657600"/>
            <ns1:ext cx="3733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B8C0D9"/>
                </ns1:solidFill>
              </ns1:defRPr>
            </ns1:pPr>
            <ns1:r>
              <ns1:rPr sz="1200" b="0">
                <ns1:solidFill>
                  <ns1:srgbClr val="B8C0D9"/>
                </ns1:solidFill>
              </ns1:rPr>
              <ns1:t>依赖各平台的治理能力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19D3B64-4502-4B04-B497-589FD24F0602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3657600"/>
            <ns1:ext cx="493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来源优先、外部内容隔离、审批和审计内建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751E54BC-6E65-4828-8A28-06689152482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10820400" cy="628650"/>
          </ns1:xfrm>
          <ns1:prstGeom prst="rect">
            <ns1:avLst/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2:creationId id="{334242A2-528C-4033-AC2D-5A68FDF32662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4286250"/>
            <ns1:ext cx="1352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知识沉淀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7953C83F-C5A0-4112-85F2-F11A9DF11360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4286250"/>
            <ns1:ext cx="3733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B8C0D9"/>
                </ns1:solidFill>
              </ns1:defRPr>
            </ns1:pPr>
            <ns1:r>
              <ns1:rPr sz="1200" b="0">
                <ns1:solidFill>
                  <ns1:srgbClr val="B8C0D9"/>
                </ns1:solidFill>
              </ns1:rPr>
              <ns1:t>通常聚焦检索或单次自动化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BAC40898-212E-47DB-A1DE-F29300D95BC7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4286250"/>
            <ns1:ext cx="493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协作结果可提升为候选项目或团队记忆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E5D6357E-9F6B-429D-8261-6E2E4CE73E2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724400"/>
            <ns1:ext cx="10820400" cy="628650"/>
          </ns1:xfrm>
          <ns1:prstGeom prst="rect">
            <ns1:avLst/>
          </ns1:prstGeom>
          <ns1:solidFill>
            <ns1:srgbClr val="141C32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27" name="">
            <ns1:extLst>
              <ns1:ext uri="{FF2B5EF4-FFF2-40B4-BE49-F238E27FC236}">
                <ns2:creationId id="{B007EAB4-5247-499D-9CB2-146816402CC9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4914900"/>
            <ns1:ext cx="1352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产品定位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D56A4038-1472-47F5-84E5-4EAE0F642C78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4914900"/>
            <ns1:ext cx="3733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0">
                <ns1:solidFill>
                  <ns1:srgbClr val="B8C0D9"/>
                </ns1:solidFill>
              </ns1:defRPr>
            </ns1:pPr>
            <ns1:r>
              <ns1:rPr sz="1200" b="0">
                <ns1:solidFill>
                  <ns1:srgbClr val="B8C0D9"/>
                </ns1:solidFill>
              </ns1:rPr>
              <ns1:t>通用平台或既有业务域 Agent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3ADF0219-6771-44CF-A31C-CA72FB7AFA3F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4914900"/>
            <ns1:ext cx="493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00" b="1">
                <ns1:solidFill>
                  <ns1:srgbClr val="FFFFFF"/>
                </ns1:solidFill>
              </ns1:defRPr>
            </ns1:pPr>
            <ns1:r>
              <ns1:rPr sz="1200" b="1">
                <ns1:solidFill>
                  <ns1:srgbClr val="FFFFFF"/>
                </ns1:solidFill>
              </ns1:rPr>
              <ns1:t>企业 Agent 的可信项目协作层</ns1:t>
            </ns1:r>
          </ns1:p>
        </ns0:txBody>
      </ns0:sp>
    </ns0:spTree>
    <ns0:extLst>
      <ns0:ext uri="{BB962C8B-B14F-4D97-AF65-F5344CB8AC3E}">
        <ns3:creationId val="1158014108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41D221FF-BF2F-4FBE-9DDF-EC7B881DFF9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3C7CA6DE-52ED-4780-9B7A-21C7099E5CB3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CCDCBADA-C24F-484F-AD3E-5D41BA3E3AB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101B4295-EB5E-4623-890C-3537130ABA26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11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ED02CBD-ACE5-4237-B200-986D5958DE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4350"/>
            <ns1:ext cx="108204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850" b="1">
                <ns1:solidFill>
                  <ns1:srgbClr val="FFFFFF"/>
                </ns1:solidFill>
              </ns1:defRPr>
            </ns1:pPr>
            <ns1:r>
              <ns1:rPr sz="2850" b="1">
                <ns1:solidFill>
                  <ns1:srgbClr val="FFFFFF"/>
                </ns1:solidFill>
              </ns1:rPr>
              <ns1:t>路线：先验证高价值闭环，再逐步放开自治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4E2480C-05AA-4D33-8776-B474EB6FB08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00200"/>
            <ns1:ext cx="5095875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7" name="">
            <ns1:extLst>
              <ns1:ext uri="{FF2B5EF4-FFF2-40B4-BE49-F238E27FC236}">
                <ns2:creationId id="{206DD083-3D5C-49E7-9C91-1E29A1CDC1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600200"/>
            <ns1:ext cx="66675" cy="1257300"/>
          </ns1:xfrm>
          <ns1:prstGeom prst="rect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3ABBF0DA-BF97-43E4-9FA4-37FA7B88417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8097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阶段一：试点闭环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F70E805-DF41-4EAD-98A7-61234F321E8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190750"/>
            <ns1:ext cx="4638675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研究、数据、风险三类能力接入真实只读数据，验证来源覆盖率、任务时长和人工介入率。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F517292-6EF1-45AB-85E7-8A6E8178D1BE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600200"/>
            <ns1:ext cx="5095875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1" name="">
            <ns1:extLst>
              <ns1:ext uri="{FF2B5EF4-FFF2-40B4-BE49-F238E27FC236}">
                <ns2:creationId id="{0474148B-FE8A-4E1C-8392-B42A4FA790B8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1600200"/>
            <ns1:ext cx="66675" cy="1257300"/>
          </ns1:xfrm>
          <ns1:prstGeom prst="rect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8B910770-ED6E-4EAA-87DB-A3539B6E4C0E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18097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阶段二：协作运行时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256E769-80B0-43E6-A3B5-51E6CF126C13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2190750"/>
            <ns1:ext cx="4638675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WorkItem、AgentRun、可靠投递、幂等、超时、重试和预算上限，支撑可恢复执行。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FCFAA4ED-FCD9-40FF-9A8E-E3BAA57B922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5095875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5" name="">
            <ns1:extLst>
              <ns1:ext uri="{FF2B5EF4-FFF2-40B4-BE49-F238E27FC236}">
                <ns2:creationId id="{703ADD9A-78F8-43F4-93A9-28BAD704A13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66675" cy="1257300"/>
          </ns1:xfrm>
          <ns1:prstGeom prst="rect">
            <ns1:avLst/>
          </ns1:prstGeom>
          <ns1:solidFill>
            <ns1:srgbClr val="FFCF5A"/>
          </ns1:solidFill>
          <ns1:ln w="0">
            <ns1:solidFill>
              <ns1:srgbClr val="FFCF5A"/>
            </ns1:solidFill>
            <ns1:prstDash val="solid"/>
          </ns1:ln>
        </ns0:spPr>
      </ns0:sp>
      <ns0:sp>
        <ns0:nvSpPr>
          <ns0:cNvPr id="16" name="">
            <ns1:extLst>
              <ns1:ext uri="{FF2B5EF4-FFF2-40B4-BE49-F238E27FC236}">
                <ns2:creationId id="{8A3BC7FA-6DC5-4D75-825D-FF88F6E8F2B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3337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阶段三：受控协作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51723B4-2FB4-4C5A-9F6E-3328FC3DD6D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714750"/>
            <ns1:ext cx="4638675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模板化并行任务与受 schema 限制的 LLM 计划，默认 assisted，按风险分级开放。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783CE07F-094E-4E3D-AF09-AE8926F56C36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124200"/>
            <ns1:ext cx="5095875" cy="1257300"/>
          </ns1:xfrm>
          <ns1:prstGeom prst="roundRect">
            <ns1:avLst>
              <ns1:gd name="adj" fmla="val 12121"/>
            </ns1:avLst>
          </ns1:prstGeom>
          <ns1:solidFill>
            <ns1:srgbClr val="18213A"/>
          </ns1:solidFill>
          <ns1:ln w="9525">
            <ns1:solidFill>
              <ns1:srgbClr val="33405F"/>
            </ns1:solidFill>
            <ns1:prstDash val="solid"/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9" name="">
            <ns1:extLst>
              <ns1:ext uri="{FF2B5EF4-FFF2-40B4-BE49-F238E27FC236}">
                <ns2:creationId id="{8FA5B469-8569-488D-8727-543351382C58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3124200"/>
            <ns1:ext cx="66675" cy="1257300"/>
          </ns1:xfrm>
          <ns1:prstGeom prst="rect">
            <ns1:avLst/>
          </ns1:prstGeom>
          <ns1:solidFill>
            <ns1:srgbClr val="FF6B6B"/>
          </ns1:solidFill>
          <ns1:ln w="0">
            <ns1:solidFill>
              <ns1:srgbClr val="FF6B6B"/>
            </ns1:solidFill>
            <ns1:prstDash val="solid"/>
          </ns1:ln>
        </ns0:spPr>
      </ns0:sp>
      <ns0:sp>
        <ns0:nvSpPr>
          <ns0:cNvPr id="20" name="">
            <ns1:extLst>
              <ns1:ext uri="{FF2B5EF4-FFF2-40B4-BE49-F238E27FC236}">
                <ns2:creationId id="{028C87AC-16C3-47F7-80EC-57D97EF86C74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3333750"/>
            <ns1:ext cx="46386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阶段四：平台化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EAEE03A4-C3C4-44F2-BB6B-552D90D30254}"/>
              </ns1:ext>
            </ns1:extLst>
          </ns0:cNvPr>
          <ns0:cNvSpPr>
            <ns1:spLocks noGrp="1"/>
          </ns0:cNvSpPr>
          <ns0:nvPr/>
        </ns0:nvSpPr>
        <ns0:spPr>
          <ns1:xfrm>
            <ns1:off x="6276975" y="3714750"/>
            <ns1:ext cx="4638675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1275" b="0">
                <ns1:solidFill>
                  <ns1:srgbClr val="B8C0D9"/>
                </ns1:solidFill>
              </ns1:defRPr>
            </ns1:pPr>
            <ns1:r>
              <ns1:rPr sz="1275" b="0">
                <ns1:solidFill>
                  <ns1:srgbClr val="B8C0D9"/>
                </ns1:solidFill>
              </ns1:rPr>
              <ns1:t>对接更多企业系统和 Agent 平台，形成项目协作与组织记忆基础设施。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1CDD5743-E7B7-42C2-8D78-ADFEC40329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14900"/>
            <ns1:ext cx="108204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875" b="1">
                <ns1:solidFill>
                  <ns1:srgbClr val="FFFFFF"/>
                </ns1:solidFill>
              </ns1:defRPr>
            </ns1:pPr>
            <ns1:r>
              <ns1:rPr sz="1875" b="1">
                <ns1:solidFill>
                  <ns1:srgbClr val="FFFFFF"/>
                </ns1:solidFill>
              </ns1:rPr>
              <ns1:t>投资重点：验证从“可演示协作”到“真实业务任务闭环”的数据飞轮，而不是追求无边界自治。</ns1:t>
            </ns1:r>
          </ns1:p>
        </ns0:txBody>
      </ns0:sp>
    </ns0:spTree>
    <ns0:extLst>
      <ns0:ext uri="{BB962C8B-B14F-4D97-AF65-F5344CB8AC3E}">
        <ns3:creationId val="1436159439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B1020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" name="">
            <ns1:extLst>
              <ns1:ext uri="{FF2B5EF4-FFF2-40B4-BE49-F238E27FC236}">
                <ns2:creationId id="{D9D13E63-B06D-4276-B65F-8DF441CA7A7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0B1020"/>
          </ns1:solidFill>
          <ns1:ln w="0">
            <ns1:solidFill>
              <ns1:srgbClr val="0B1020"/>
            </ns1:solidFill>
            <ns1:prstDash val="solid"/>
          </ns1:ln>
        </ns0:spPr>
      </ns0:sp>
      <ns0:sp>
        <ns0:nvSpPr>
          <ns0:cNvPr id="2" name="">
            <ns1:extLst>
              <ns1:ext uri="{FF2B5EF4-FFF2-40B4-BE49-F238E27FC236}">
                <ns2:creationId id="{36D72945-92A5-4B59-9730-E254642E613E}"/>
              </ns1:ext>
            </ns1:extLst>
          </ns0:cNvPr>
          <ns0:cNvSpPr>
            <ns1:spLocks noGrp="1"/>
          </ns0:cNvSpPr>
          <ns0:nvPr/>
        </ns0:nvSpPr>
        <ns0:spPr>
          <ns1:xfrm>
            <ns1:off x="-1524000" y="-1619250"/>
            <ns1:ext cx="4953000" cy="4953000"/>
          </ns1:xfrm>
          <ns1:prstGeom prst="arc">
            <ns1:avLst/>
          </ns1:prstGeom>
          <ns1:solidFill>
            <ns1:srgbClr val="7C5CFF"/>
          </ns1:solidFill>
          <ns1:ln w="0">
            <ns1:solidFill>
              <ns1:srgbClr val="7C5CFF"/>
            </ns1:solidFill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58834289-84E0-420F-896E-A73C85953E4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-1143000"/>
            <ns1:ext cx="4000500" cy="4000500"/>
          </ns1:xfrm>
          <ns1:prstGeom prst="arc">
            <ns1:avLst/>
          </ns1:prstGeom>
          <ns1:solidFill>
            <ns1:srgbClr val="15D6B3"/>
          </ns1:solidFill>
          <ns1:ln w="0">
            <ns1:solidFill>
              <ns1:srgbClr val="15D6B3"/>
            </ns1:solidFill>
            <ns1:prstDash val="solid"/>
          </ns1:ln>
        </ns0:spPr>
      </ns0:sp>
      <ns0:sp>
        <ns0:nvSpPr>
          <ns0:cNvPr id="4" name="">
            <ns1:extLst>
              <ns1:ext uri="{FF2B5EF4-FFF2-40B4-BE49-F238E27FC236}">
                <ns2:creationId id="{AA051663-9C5F-415F-B358-0BCB64A6F75A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6324600"/>
            <ns1:ext cx="476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defRPr sz="1050" b="0">
                <ns1:solidFill>
                  <ns1:srgbClr val="7180A5"/>
                </ns1:solidFill>
              </ns1:defRPr>
            </ns1:pPr>
            <ns1:r>
              <ns1:rPr sz="1050" b="0">
                <ns1:solidFill>
                  <ns1:srgbClr val="7180A5"/>
                </ns1:solidFill>
              </ns1:rPr>
              <ns1:t>12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E5F325EA-8FD1-434D-859C-AA72FF79C4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81150"/>
            <ns1:ext cx="9525000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625" b="1">
                <ns1:solidFill>
                  <ns1:srgbClr val="FFFFFF"/>
                </ns1:solidFill>
              </ns1:defRPr>
            </ns1:pPr>
            <ns1:r>
              <ns1:rPr sz="2625" b="1">
                <ns1:solidFill>
                  <ns1:srgbClr val="FFFFFF"/>
                </ns1:solidFill>
              </ns1:rPr>
              <ns1:t>AgentMesh 让企业 AI 从单点回答走向可验证的协作能力。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CE88100-A96D-417D-B902-F14573B0AEE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676650"/>
            <ns1:ext cx="93345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defRPr sz="2550" b="1">
                <ns1:solidFill>
                  <ns1:srgbClr val="15D6B3"/>
                </ns1:solidFill>
              </ns1:defRPr>
            </ns1:pPr>
            <ns1:r>
              <ns1:rPr sz="2550" b="1">
                <ns1:solidFill>
                  <ns1:srgbClr val="15D6B3"/>
                </ns1:solidFill>
              </ns1:rPr>
              <ns1:t>协作黑板记录事实，协作图解释过程，任务运行时让人、工具与 Agent 在治理边界内持续推进。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299B21B-4453-471D-96FC-D8954794C48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819650"/>
            <ns1:ext cx="12382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533DCDEB-5C66-4D3C-BC34-9EC39552BED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895850"/>
            <ns1:ext cx="1238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可信协作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6A542C87-A7A9-440C-87A9-F6B1FF0E498E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819650"/>
            <ns1:ext cx="12382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2:creationId id="{2D417410-4219-43C5-B85D-587976EA555A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895850"/>
            <ns1:ext cx="1238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任务驱动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8E27EBC-93D1-4C43-A2CA-FD295300860A}"/>
              </ns1:ext>
            </ns1:extLst>
          </ns0:cNvPr>
          <ns0:cNvSpPr>
            <ns1:spLocks noGrp="1"/>
          </ns0:cNvSpPr>
          <ns0:nvPr/>
        </ns0:nvSpPr>
        <ns0:spPr>
          <ns1:xfrm>
            <ns1:off x="3505200" y="4819650"/>
            <ns1:ext cx="1238250" cy="361950"/>
          </ns1:xfrm>
          <ns1:prstGeom prst="roundRect">
            <ns1:avLst>
              <ns1:gd name="adj" fmla="val 50000"/>
            </ns1:avLst>
          </ns1:prstGeom>
          <ns1:solidFill>
            <ns1:srgbClr val="202B4A"/>
          </ns1:solidFill>
          <ns1:ln w="9525">
            <ns1:solidFill>
              <ns1:srgbClr val="33405F"/>
            </ns1:solidFill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9C6C893E-CCE7-491E-9DD0-0DF89BAFA869}"/>
              </ns1:ext>
            </ns1:extLst>
          </ns0:cNvPr>
          <ns0:cNvSpPr>
            <ns1:spLocks noGrp="1"/>
          </ns0:cNvSpPr>
          <ns0:nvPr/>
        </ns0:nvSpPr>
        <ns0:spPr>
          <ns1:xfrm>
            <ns1:off x="3505200" y="4895850"/>
            <ns1:ext cx="1238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defRPr sz="1050" b="1">
                <ns1:solidFill>
                  <ns1:srgbClr val="F7F8FF"/>
                </ns1:solidFill>
              </ns1:defRPr>
            </ns1:pPr>
            <ns1:r>
              <ns1:rPr sz="1050" b="1">
                <ns1:solidFill>
                  <ns1:srgbClr val="F7F8FF"/>
                </ns1:solidFill>
              </ns1:rPr>
              <ns1:t>组织复利</ns1:t>
            </ns1:r>
          </ns1:p>
        </ns0:txBody>
      </ns0:sp>
    </ns0:spTree>
    <ns0:extLst>
      <ns0:ext uri="{BB962C8B-B14F-4D97-AF65-F5344CB8AC3E}">
        <ns3:creationId val="167144086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2026-07-10T03:17:32.0910000Z</dcterms:created>
  <dcterms:modified xsi:type="dcterms:W3CDTF">2026-07-10T03:17:32.0910000Z</dcterms:modified>
</coreProperties>
</file>