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556be4d0614a70" /><Relationship Type="http://schemas.openxmlformats.org/officeDocument/2006/relationships/extended-properties" Target="/docProps/app.xml" Id="R99dfcc53ab964fba" /><Relationship Type="http://schemas.openxmlformats.org/officeDocument/2006/relationships/officeDocument" Target="/ppt/presentation.xml" Id="R52c33ff607cd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9f80f770042fb"/>
  </p:sldMasterIdLst>
  <p:notesMasterIdLst>
    <p:notesMasterId xmlns:r="http://schemas.openxmlformats.org/officeDocument/2006/relationships" r:id="Ra385cc47ab9a4d71"/>
  </p:notesMasterIdLst>
  <p:sldIdLst>
    <p:sldId xmlns:r="http://schemas.openxmlformats.org/officeDocument/2006/relationships" id="256" r:id="R8fa4ad0e1db84621"/>
    <p:sldId xmlns:r="http://schemas.openxmlformats.org/officeDocument/2006/relationships" id="257" r:id="Re0813c1864054891"/>
    <p:sldId xmlns:r="http://schemas.openxmlformats.org/officeDocument/2006/relationships" id="258" r:id="Rc9320a542c4f47fa"/>
    <p:sldId xmlns:r="http://schemas.openxmlformats.org/officeDocument/2006/relationships" id="259" r:id="R6595e601405a4057"/>
    <p:sldId xmlns:r="http://schemas.openxmlformats.org/officeDocument/2006/relationships" id="260" r:id="R9dcf4d45c9ad4498"/>
    <p:sldId xmlns:r="http://schemas.openxmlformats.org/officeDocument/2006/relationships" id="261" r:id="R794bb5b424a943fe"/>
    <p:sldId xmlns:r="http://schemas.openxmlformats.org/officeDocument/2006/relationships" id="262" r:id="R5cb248bae4da47d3"/>
    <p:sldId xmlns:r="http://schemas.openxmlformats.org/officeDocument/2006/relationships" id="263" r:id="R7a405d82d56d46ba"/>
    <p:sldId xmlns:r="http://schemas.openxmlformats.org/officeDocument/2006/relationships" id="264" r:id="R9ade2fec33534cc1"/>
    <p:sldId xmlns:r="http://schemas.openxmlformats.org/officeDocument/2006/relationships" id="265" r:id="Ra753730debe04549"/>
    <p:sldId xmlns:r="http://schemas.openxmlformats.org/officeDocument/2006/relationships" id="266" r:id="R692c02adfbf84a7b"/>
    <p:sldId xmlns:r="http://schemas.openxmlformats.org/officeDocument/2006/relationships" id="267" r:id="R9c55a66d08674c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c40f8cd452481b" /><Relationship Type="http://schemas.openxmlformats.org/officeDocument/2006/relationships/slideMaster" Target="/ppt/slideMasters/slideMaster1.xml" Id="R1ed9f80f770042fb" /><Relationship Type="http://schemas.openxmlformats.org/officeDocument/2006/relationships/notesMaster" Target="/ppt/notesMasters/notesMaster1.xml" Id="Ra385cc47ab9a4d71" /><Relationship Type="http://schemas.openxmlformats.org/officeDocument/2006/relationships/presProps" Target="/ppt/presProps.xml" Id="Ra9bb604d00ca4553" /><Relationship Type="http://schemas.openxmlformats.org/officeDocument/2006/relationships/tableStyles" Target="/ppt/tableStyles.xml" Id="Ra7b81d2d6a7a4e72" /><Relationship Type="http://schemas.openxmlformats.org/officeDocument/2006/relationships/slide" Target="/ppt/slides/slide1.xml" Id="R8fa4ad0e1db84621" /><Relationship Type="http://schemas.openxmlformats.org/officeDocument/2006/relationships/slide" Target="/ppt/slides/slide2.xml" Id="Re0813c1864054891" /><Relationship Type="http://schemas.openxmlformats.org/officeDocument/2006/relationships/slide" Target="/ppt/slides/slide3.xml" Id="Rc9320a542c4f47fa" /><Relationship Type="http://schemas.openxmlformats.org/officeDocument/2006/relationships/slide" Target="/ppt/slides/slide4.xml" Id="R6595e601405a4057" /><Relationship Type="http://schemas.openxmlformats.org/officeDocument/2006/relationships/slide" Target="/ppt/slides/slide5.xml" Id="R9dcf4d45c9ad4498" /><Relationship Type="http://schemas.openxmlformats.org/officeDocument/2006/relationships/slide" Target="/ppt/slides/slide6.xml" Id="R794bb5b424a943fe" /><Relationship Type="http://schemas.openxmlformats.org/officeDocument/2006/relationships/slide" Target="/ppt/slides/slide7.xml" Id="R5cb248bae4da47d3" /><Relationship Type="http://schemas.openxmlformats.org/officeDocument/2006/relationships/slide" Target="/ppt/slides/slide8.xml" Id="R7a405d82d56d46ba" /><Relationship Type="http://schemas.openxmlformats.org/officeDocument/2006/relationships/slide" Target="/ppt/slides/slide9.xml" Id="R9ade2fec33534cc1" /><Relationship Type="http://schemas.openxmlformats.org/officeDocument/2006/relationships/slide" Target="/ppt/slides/slide10.xml" Id="Ra753730debe04549" /><Relationship Type="http://schemas.openxmlformats.org/officeDocument/2006/relationships/slide" Target="/ppt/slides/slide11.xml" Id="R692c02adfbf84a7b" /><Relationship Type="http://schemas.openxmlformats.org/officeDocument/2006/relationships/slide" Target="/ppt/slides/slide12.xml" Id="R9c55a66d0867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f108a9156c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a93b277fc24af8" /><Relationship Type="http://schemas.openxmlformats.org/officeDocument/2006/relationships/notesMaster" Target="/ppt/notesMasters/notesMaster1.xml" Id="R848b7564ca2840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a982112e1c4f10" /><Relationship Type="http://schemas.openxmlformats.org/officeDocument/2006/relationships/notesMaster" Target="/ppt/notesMasters/notesMaster1.xml" Id="R5cd24f992d96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b404b79d94a60" /><Relationship Type="http://schemas.openxmlformats.org/officeDocument/2006/relationships/notesMaster" Target="/ppt/notesMasters/notesMaster1.xml" Id="Rde74da1b89f941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e34ac81dfe49d9" /><Relationship Type="http://schemas.openxmlformats.org/officeDocument/2006/relationships/notesMaster" Target="/ppt/notesMasters/notesMaster1.xml" Id="R6dd0a76e861944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bb9adaae2f406a" /><Relationship Type="http://schemas.openxmlformats.org/officeDocument/2006/relationships/notesMaster" Target="/ppt/notesMasters/notesMaster1.xml" Id="Ra702873c968a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aa9ce51b4d464f" /><Relationship Type="http://schemas.openxmlformats.org/officeDocument/2006/relationships/notesMaster" Target="/ppt/notesMasters/notesMaster1.xml" Id="R828a102d978c45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cb44388d024ed7" /><Relationship Type="http://schemas.openxmlformats.org/officeDocument/2006/relationships/notesMaster" Target="/ppt/notesMasters/notesMaster1.xml" Id="R6ee9712ddb4246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2bdf5d00e94575" /><Relationship Type="http://schemas.openxmlformats.org/officeDocument/2006/relationships/notesMaster" Target="/ppt/notesMasters/notesMaster1.xml" Id="R416d53aa35cf4c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2b37f2610d4635" /><Relationship Type="http://schemas.openxmlformats.org/officeDocument/2006/relationships/notesMaster" Target="/ppt/notesMasters/notesMaster1.xml" Id="Rfff6e45dffda4c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3b6a3a4aa24570" /><Relationship Type="http://schemas.openxmlformats.org/officeDocument/2006/relationships/notesMaster" Target="/ppt/notesMasters/notesMaster1.xml" Id="R3a16de3fd48743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7076068413403a" /><Relationship Type="http://schemas.openxmlformats.org/officeDocument/2006/relationships/notesMaster" Target="/ppt/notesMasters/notesMaster1.xml" Id="R60155849326345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651f5682eb4181" /><Relationship Type="http://schemas.openxmlformats.org/officeDocument/2006/relationships/notesMaster" Target="/ppt/notesMasters/notesMaster1.xml" Id="R0643d3510752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62418d3a8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b3b67d6fee4386" /><Relationship Type="http://schemas.openxmlformats.org/officeDocument/2006/relationships/slideLayout" Target="/ppt/slideLayouts/slideLayout1.xml" Id="R3db084e0b6b942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b084e0b6b942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5a0ab6f3244c6" /><Relationship Type="http://schemas.openxmlformats.org/officeDocument/2006/relationships/notesSlide" Target="/ppt/notesSlides/notesSlide1.xml" Id="R8c9bdf6d39d349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d027d96b74ec3" /><Relationship Type="http://schemas.openxmlformats.org/officeDocument/2006/relationships/notesSlide" Target="/ppt/notesSlides/notesSlide2.xml" Id="Re99146d220e74c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0886970f2443a" /><Relationship Type="http://schemas.openxmlformats.org/officeDocument/2006/relationships/notesSlide" Target="/ppt/notesSlides/notesSlide3.xml" Id="R5d74abb1d17441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1518b6ae74bf5" /><Relationship Type="http://schemas.openxmlformats.org/officeDocument/2006/relationships/notesSlide" Target="/ppt/notesSlides/notesSlide4.xml" Id="R87d7f60549584b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15c9639f143d8" /><Relationship Type="http://schemas.openxmlformats.org/officeDocument/2006/relationships/notesSlide" Target="/ppt/notesSlides/notesSlide5.xml" Id="R3fbdf342e93b42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684f6a1940b8" /><Relationship Type="http://schemas.openxmlformats.org/officeDocument/2006/relationships/notesSlide" Target="/ppt/notesSlides/notesSlide6.xml" Id="R3132d3cfb19c42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da45abf7e4102" /><Relationship Type="http://schemas.openxmlformats.org/officeDocument/2006/relationships/notesSlide" Target="/ppt/notesSlides/notesSlide7.xml" Id="R116cdc7a8a6d40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8fd140ed04f32" /><Relationship Type="http://schemas.openxmlformats.org/officeDocument/2006/relationships/notesSlide" Target="/ppt/notesSlides/notesSlide8.xml" Id="Red4a4e8ec03342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7c0853a234b7e" /><Relationship Type="http://schemas.openxmlformats.org/officeDocument/2006/relationships/notesSlide" Target="/ppt/notesSlides/notesSlide9.xml" Id="R11bafceb5f864b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85584a57a4e67" /><Relationship Type="http://schemas.openxmlformats.org/officeDocument/2006/relationships/notesSlide" Target="/ppt/notesSlides/notesSlide10.xml" Id="R3d491493be4949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276ddbc9b4db7" /><Relationship Type="http://schemas.openxmlformats.org/officeDocument/2006/relationships/notesSlide" Target="/ppt/notesSlides/notesSlide11.xml" Id="R761b60db5a6a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bfc8e4c8d4ed3" /><Relationship Type="http://schemas.openxmlformats.org/officeDocument/2006/relationships/notesSlide" Target="/ppt/notesSlides/notesSlide12.xml" Id="R42fb75d0b38549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8ACBB-AA6B-4021-A277-BFAF186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92FB2-C817-460F-AA1D-3A341A6C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9A653-DA71-4232-9B27-75AD7633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E6D34-0BAD-463A-A961-728A84C5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8BA08-89A9-403A-8573-3C4F030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D6B3"/>
                </a:solidFill>
              </a:defRPr>
            </a:pPr>
            <a:r>
              <a:rPr sz="1125" b="1">
                <a:solidFill>
                  <a:srgbClr val="15D6B3"/>
                </a:solidFill>
              </a:rPr>
              <a:t>ENTERPRISE DIGITAL TWIN COLLABORATION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29193-C5C8-4766-B4ED-FC36677F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TwinMesh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77A93-E97C-435D-A14F-B46AC681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让每位员工拥有自己的数字分身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4009F-21C7-4496-AFDC-1CD39DCC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2FF"/>
                </a:solidFill>
              </a:defRPr>
            </a:pPr>
            <a:r>
              <a:rPr sz="1725" b="0">
                <a:solidFill>
                  <a:srgbClr val="DCE2FF"/>
                </a:solidFill>
              </a:rPr>
              <a:t>可授权、可审计、可协作的企业员工数字分身网络，让知识、工具和人自动协同起来。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889DC-2578-4CD3-9E7B-4D14BB58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181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B4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94920-0962-4B95-89EE-25A1013B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员工分身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5F228-E34B-4CEC-B3BD-79C108DC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1695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B4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622D8-DB83-4E49-9377-8145358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386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通用 Agent 能力池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A9FEA-552F-4118-9253-1DA479D1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62450"/>
            <a:ext cx="1352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B4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6CA63-68B8-4D09-B2B5-6E0E53D5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386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三级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E3DAB-270F-44D9-9FF8-EEC12A4C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62450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B4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389B1-7CFA-4391-85AB-C24C5D65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协作可追踪</a:t>
            </a:r>
          </a:p>
        </p:txBody>
      </p:sp>
    </p:spTree>
    <p:extLst>
      <p:ext uri="{BB962C8B-B14F-4D97-AF65-F5344CB8AC3E}">
        <p14:creationId xmlns:p14="http://schemas.microsoft.com/office/powerpoint/2010/main" val="575811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F9CA7-6F5A-418E-93A5-C2FB9F4A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31EA3-D54E-45BA-AC95-718B83C2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5F67E-972C-4E19-B674-4C0EA32E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AC75A-B8BC-41B9-846B-29A0AF63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81910-02CB-41DB-8B7C-6270A0D0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企业协作最大的浪费，是上下文不断丢失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04C49-9EE3-4C5C-95B3-6FE9C394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0D9"/>
                </a:solidFill>
              </a:defRPr>
            </a:pPr>
            <a:r>
              <a:rPr sz="1425" b="0">
                <a:solidFill>
                  <a:srgbClr val="B8C0D9"/>
                </a:solidFill>
              </a:rPr>
              <a:t>不是缺少聊天工具，而是知识、任务、工具结果和决策没有形成统一的组织记忆。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A0503-D81F-4A81-8D07-4445E582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9587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AA750-1EE1-421A-A270-77620A67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B7679-F9CC-4FB5-A06F-DB89718E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信息分散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23583-2D28-4B0B-9293-2818E253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638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项目背景散落在群聊、会议、文档、需求和业务系统里。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418DD-67BF-4090-943C-5ABE31B6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90700"/>
            <a:ext cx="509587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1ACFF-CFAC-4AF3-9B7B-0D3942DF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907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7D350-51FA-4454-AD5F-41CB985C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0025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重复同步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17DFB-2449-46FE-BF9A-6E03CDA0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4638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员工每天重复解释背景、找资料、催确认、写纪要。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85009-22FE-4325-926E-176B64F5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09587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04B0D-2126-46EE-8B8E-B1F2F772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solidFill>
              <a:srgbClr val="FFCF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9C60E-362E-4938-8FCB-D5E05C86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经验流失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F07FE-C6DF-4EF3-BF6D-71D53B1D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638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复盘文档写完就沉睡，换人后大量隐性知识断层。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A3C9D-5C8D-44B9-877E-55A4B5D7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09950"/>
            <a:ext cx="509587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C15DA-FDF1-4D7C-B1CA-212D8BD6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09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450D1-78D7-4EA0-AFAA-6B9C634A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1950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 碎片化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FEC52-3E88-4920-BA23-6D515F07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00500"/>
            <a:ext cx="4638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AI 工具各自为战，输出不进入业务流程，也不沉淀组织知识。</a:t>
            </a:r>
          </a:p>
        </p:txBody>
      </p:sp>
    </p:spTree>
    <p:extLst>
      <p:ext uri="{BB962C8B-B14F-4D97-AF65-F5344CB8AC3E}">
        <p14:creationId xmlns:p14="http://schemas.microsoft.com/office/powerpoint/2010/main" val="937277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6B6C7-61BF-4021-9C8A-1DA81452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294A5-7D9A-478B-9AAB-593E3739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AF285-62B2-4900-AD1E-9A1A30ED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FDA57-9531-4E0D-98E9-5F4F90E3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12651-57E2-4C89-A386-D19E4E7E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企业需要的不是更多机器人，而是可协作的员工数字分身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2756E-10FC-4776-80BC-DECC2F05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员工是经验的最小载体，项目是上下文的最小容器，团队是组织经验复用的最小单元。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25FB1-EFE5-4485-AE80-56DAA258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3337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E7F9C-92A5-40C8-BBC2-6289FCE7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8E4DB-7FBA-4B0B-8973-11D14FA2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员工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3E70-2E7A-4989-A437-51411AAC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偏好、经验、职责、判断标准，构成员工数字分身的个人底座。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FC37A-7376-41C2-8AC9-FBC928DF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3337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32CE1-1EBF-4B6A-81FA-6DBE07BD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7581D-5639-46AF-B57F-0D0FE701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57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项目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E3D48-239E-4F7D-9E9E-06F81E20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385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事实、资料、会议、决策、风险，构成业务上下文的中心。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826E7-95A2-493C-9DA1-E6B2FA51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33337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6CB88-FC7B-4560-8205-8A0E014F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solidFill>
              <a:srgbClr val="FFCF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D7F2B-DB70-4D38-A5D5-E8E05760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团队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4A9BB-2C3B-4403-BE02-340D1169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方法论、最佳实践、复盘经验，构成可复用的组织能力。</a:t>
            </a:r>
          </a:p>
        </p:txBody>
      </p:sp>
    </p:spTree>
    <p:extLst>
      <p:ext uri="{BB962C8B-B14F-4D97-AF65-F5344CB8AC3E}">
        <p14:creationId xmlns:p14="http://schemas.microsoft.com/office/powerpoint/2010/main" val="1485680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1C65DD-726C-4EDD-90EE-51351313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93A14-7237-4F0E-BD90-D38228EB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0E22D-CA8F-42C7-B9AB-8EB1C64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CD492-4D9F-425B-BAB3-65B766F9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12C34-DB45-407F-82C5-404E5C59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TwinMesh 用三件事把个人提效变成组织复利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5C4D6-FA90-4009-8924-DF31552E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6E30C-F1BF-49BB-9B3D-9206F28A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7E80E-207F-4FAE-912B-FFE251B9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员工数字分身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A6E38-B650-4DEB-AB64-0646FB9C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686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理解员工、代表员工处理上下文，在授权范围内发起协作和调用工具。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A6283-586A-4ED9-A2AF-9334F27A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74EDC-8D2C-449F-9263-F299A743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36496-5C7A-4BB3-B3D2-408E79FD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24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通用能力池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AEFBB-B949-4E18-9396-A074DC1A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05050"/>
            <a:ext cx="2686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调研、数据、文档、会议、风险和内部工具连接器作为共享能力。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3C9F1-F327-4E95-A385-C378DD1C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1450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84D80-D4F9-4315-A1A7-AF579D25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14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solidFill>
              <a:srgbClr val="FFCF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411BD-FA30-459C-A19B-FA887A42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24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三级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53CC3-9208-410B-AAC5-8F0D7EB7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686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员工、项目、团队三层记忆，让经验从个人走向团队复用。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8D63E-E3D3-47BD-AA99-86D805A8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核心转变：从“人找信息”变成“信息、工具和分身围绕人协作”。</a:t>
            </a:r>
          </a:p>
        </p:txBody>
      </p:sp>
    </p:spTree>
    <p:extLst>
      <p:ext uri="{BB962C8B-B14F-4D97-AF65-F5344CB8AC3E}">
        <p14:creationId xmlns:p14="http://schemas.microsoft.com/office/powerpoint/2010/main" val="283665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191D05-7C1F-43F3-86D3-006F2E26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F9130-F8D9-4FF2-B347-B0FDB18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811AF-CF23-4F60-84D2-86F5D748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372EE-F00D-4481-8845-1E7C976B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EBBC9-32C7-4E48-BD67-70DFC5A2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能力架构让分身协作可控、可信、可沉淀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DA103-0443-4FEC-B38E-259A8DD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0D9"/>
                </a:solidFill>
              </a:defRPr>
            </a:pPr>
            <a:r>
              <a:rPr sz="1425" b="0">
                <a:solidFill>
                  <a:srgbClr val="B8C0D9"/>
                </a:solidFill>
              </a:rPr>
              <a:t>关键不是让 Agent 自由发挥，而是在明确权限、任务和记忆治理下协作。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B55E8-419A-4FD1-9BC6-D7EF4D64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6D6A7-F44E-461A-8F10-499F55CA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503F3-7A94-4F43-8DF7-EA3A63A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员工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ACB2F-FF20-4A14-A1D7-089CD349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提出问题、任务或项目需求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D1566-306A-4488-8DFB-4A29A404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07645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F7040-1953-417C-B9CA-AD9FB70B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228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1591E-D7C2-4F7A-96BA-B519FC87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59080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数字分身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247B6-6413-4563-B984-B17B5453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89560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理解身份、权限、偏好和上下文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2A5E7-AD22-4E37-8600-332C83A2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07645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07598-48DA-43CA-B249-95D5BBDC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90" y="2228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791FA-0179-4385-AB60-175683DD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90" y="259080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能力池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414F9-E68A-46CA-BCB0-61F9CCC9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90" y="289560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调用调研、数据、文档、会议、风险工具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635DF-17E5-49F8-951F-9C5C70A3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07645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EF2A0-F0AB-49A2-B15F-9BC6DFAB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228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5FBCE-1C28-42DE-97D6-7BE6463E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59080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协作网络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01FAC-BC6F-4689-AB7E-C1107C30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9560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分身之间结构化请求、证据和交接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5FE79-F8DF-40EC-920B-C1E15C2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07645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D8D45-A64A-4FFD-A681-1EC29B0B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228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5A1C0-9571-4561-8515-6C842B4F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59080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三级 Memory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C1BED-FA56-421A-AF09-7329AFBA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89560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候选确认后沉淀为组织知识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36F76-9437-47DF-B3CB-306DE0B0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CDACD4-D40F-4DCB-B862-E5253562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34357-FC1C-47E1-BA5E-CC94FF63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治理底座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D01F7-DF4F-482C-BB66-69228048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权限、风险等级、人工确认、操作日志、引用链路贯穿全流程，保证分身代表员工但不越权。</a:t>
            </a:r>
          </a:p>
        </p:txBody>
      </p:sp>
    </p:spTree>
    <p:extLst>
      <p:ext uri="{BB962C8B-B14F-4D97-AF65-F5344CB8AC3E}">
        <p14:creationId xmlns:p14="http://schemas.microsoft.com/office/powerpoint/2010/main" val="104234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1E4FF7-D9B5-4001-9E0A-7214F81B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9C623-F819-4217-A0B2-D24E7BB1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B2EFB-2974-4575-9D16-F039771A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73975-4EA1-4323-9540-EF53EDC4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5CC2F-1EF4-48ED-AD79-61B13629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三级 Memory 把聊天历史升级为组织知识资产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4CCD-5372-4EF1-8DD3-1B2D96EB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48348-76EE-4D29-9A96-ACAE6BB2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261E5-03D7-4178-B766-DF20155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员工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B4E4B-637B-40DF-958C-31C566BC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876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工作偏好、专业领域、历史项目、私人备忘，让分身越来越懂员工。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315CA-AEBE-4F3E-BF07-4CB53D6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38300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57516-435E-48E0-9510-F6C5970A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383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6E027-2EC3-489B-A6CA-FB28B34F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47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项目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43CB7-CF4A-4278-83C1-A814105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28850"/>
            <a:ext cx="2876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项目背景、需求变更、会议结论、调研结果、风险判断和阶段总结。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B6902-2516-4C84-8138-16887A16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25DF2-74A3-4AC3-9322-5E61F3BD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solidFill>
              <a:srgbClr val="FFCF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AE9B2-85CE-42FF-810F-4F6E3E89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团队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E7890-EA04-4545-997C-192B7720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876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跨项目可复用的方法论、风险模式、最佳实践、反例和适用边界。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40B52-4244-4900-920E-412A4EE6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196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AI 输出默认只是候选内容，经过确认后才成为正式知识。</a:t>
            </a:r>
          </a:p>
        </p:txBody>
      </p:sp>
    </p:spTree>
    <p:extLst>
      <p:ext uri="{BB962C8B-B14F-4D97-AF65-F5344CB8AC3E}">
        <p14:creationId xmlns:p14="http://schemas.microsoft.com/office/powerpoint/2010/main" val="552373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971BCA-7226-4576-B249-665859D8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EAC07-E7F5-43D9-88BA-C7092BDE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6475B-CD3F-4BB3-9180-27CE6951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D7399-4B9D-4226-8545-CA709FBA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404D7-EF6F-48AB-ADD2-EB1C501C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典型 Demo：设计项目里的数字分身协作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ACBC7-3B86-4599-BDB2-56A18790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0D9"/>
                </a:solidFill>
              </a:defRPr>
            </a:pPr>
            <a:r>
              <a:rPr sz="1425" b="0">
                <a:solidFill>
                  <a:srgbClr val="B8C0D9"/>
                </a:solidFill>
              </a:rPr>
              <a:t>一个闭环证明价值：理解项目 → 找对人 → 调工具 → 产结论 → 沉淀记忆。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02DF6-4BDF-445D-86B6-E3B53830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E1292-42CB-41A2-902D-99D96FAC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239BC-E2D4-4E67-A4AF-0B9F486E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设计师提问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D2488-3CB8-47E2-9B55-F3CCF22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这次改版核心用户痛点是什么？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171BC-5CA9-49E9-B754-2DCE639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09550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ED40C-0A9C-4EEE-A456-2CA09F2E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2479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68606-C864-4FDA-8491-0B5D7871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60985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读取上下文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5EFBA-FCCA-4541-9047-35039C3A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91465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分身读取项目 memory 和 PRD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832A1-9F1D-4B85-917A-36833A0B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09550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C71F5-1BAD-4C77-8EAC-CF27872D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90" y="22479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E932B-020A-4C7E-9986-6A0878FC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90" y="260985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发起协作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82572-7EF6-4B14-97F8-38DE30EB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90" y="291465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向用研分身请求证据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ACB47-B1F7-47FD-A5C0-3CE52056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09550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B3470-6BB6-4128-A7A7-6294DFA2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2479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A4104-678D-4162-9107-FB16E71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0985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调用工具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78FB6-BDC7-4D79-938C-0F60AB1A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1465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用研分身调用调研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895C1-63CA-4A3E-BC3D-E4BAFC65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095500"/>
            <a:ext cx="202692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AA853-6210-467E-933F-11B1865A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2479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D6B3"/>
                </a:solidFill>
              </a:defRPr>
            </a:pPr>
            <a:r>
              <a:rPr sz="1800" b="1">
                <a:solidFill>
                  <a:srgbClr val="15D6B3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EA5AF-515E-4FE4-ACB6-D5A5B5F0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609850"/>
            <a:ext cx="1684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沉淀记忆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81C479-3C36-4E41-84CF-CB7FD9BF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914650"/>
            <a:ext cx="16840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D9"/>
                </a:solidFill>
              </a:defRPr>
            </a:pPr>
            <a:r>
              <a:rPr sz="1050" b="0">
                <a:solidFill>
                  <a:srgbClr val="B8C0D9"/>
                </a:solidFill>
              </a:rPr>
              <a:t>结论确认后进入项目 memory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876D3D-2C10-47D4-8304-FC703641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评委能看到的不是纯聊天，而是员工身份、项目上下文、分身协作、工具调用、memory 沉淀和来源链路。</a:t>
            </a:r>
          </a:p>
        </p:txBody>
      </p:sp>
    </p:spTree>
    <p:extLst>
      <p:ext uri="{BB962C8B-B14F-4D97-AF65-F5344CB8AC3E}">
        <p14:creationId xmlns:p14="http://schemas.microsoft.com/office/powerpoint/2010/main" val="18246962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C4D01-DA8B-4C61-894B-B5EC349F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1603C-2A33-493A-A8F3-13B7D069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6776E-1FD2-463E-870E-913F279E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F46F3-5139-4013-B470-7860CE08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D83BC-50CB-4D2A-9FED-10A2EF18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TwinMesh 为公司带来可量化的协作收益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427A4-6E1D-405A-9F5E-D129C5A1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09587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BB1F1-9425-48D1-9DD1-30F51B24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25ACC-A97E-4161-B0CF-0172E9A3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降低沟通成本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B5202-F25F-4758-9172-1BA5DCEE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638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分身之间结构化协作，减少重复解释和跨角色来回确认。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21C76-D020-48C2-8C61-B620E7F5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38300"/>
            <a:ext cx="509587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6EB3D-BCC2-47BB-A67D-33E7957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38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3645F-E5BD-4C7F-A843-EBA2F6D7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4785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缩短上手时间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8F4F8-3316-4CAB-9031-79A38C66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28850"/>
            <a:ext cx="4638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新人由分身生成项目上手包，快速理解历史决策和当前风险。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30527-6152-43A7-A751-96B04AF1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09587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23508-7B22-4EFB-8CAE-D7057DD9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solidFill>
              <a:srgbClr val="FFCF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377CC-4862-466F-9774-894AA096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提升沉淀质量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67131-57CF-45C7-9597-16D2460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638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会议、工具、调研结果进入项目上下文和候选 memory。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F7719-A1F7-4BF1-AFAB-8085D1AB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57550"/>
            <a:ext cx="509587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CACF3-3971-4350-9881-29315177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57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AE789-DB5E-4BA0-857F-6EA1404E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46710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形成组织复利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86513-F445-4C00-AAD5-47F044BA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48100"/>
            <a:ext cx="4638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项目经验投影为团队 memory，后续项目自动复用。</a:t>
            </a:r>
          </a:p>
        </p:txBody>
      </p:sp>
    </p:spTree>
    <p:extLst>
      <p:ext uri="{BB962C8B-B14F-4D97-AF65-F5344CB8AC3E}">
        <p14:creationId xmlns:p14="http://schemas.microsoft.com/office/powerpoint/2010/main" val="1934047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CBF69-D286-4EDD-9D0B-583DE02C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432E1-BB88-4642-BDE9-25CA5194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2AD65-6A79-4101-9E1D-2710F57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14C0E-1130-40DF-8248-0D26C996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77C84-E2E9-4710-A046-AF0095E3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保守估算：100 人团队每月可释放 1100 小时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11C97-5763-499C-B5AC-A9FD6FD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953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85DC1-1DE0-4DAC-82D9-333FC0D8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FF0DD-B2B7-4C09-B98A-1DC736CD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1100 小时 /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6E550-92B3-4EBA-BFE9-7169291E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495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假设 100 人团队，每人每天节省 30 分钟，每月工作 22 天。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8087A-1E97-44D3-A58B-CB259E8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5D6B3"/>
                </a:solidFill>
              </a:defRPr>
            </a:pPr>
            <a:r>
              <a:rPr sz="4650" b="1">
                <a:solidFill>
                  <a:srgbClr val="15D6B3"/>
                </a:solidFill>
              </a:rPr>
              <a:t>1100h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890D0-2ACC-4EAD-8C55-BCD8BEFF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5143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48D70-5154-4CDC-A512-DCFE91E6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0A8E8-CBEE-4EB4-BA66-1E227D83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等效 6–7 个全职人力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113E6-99C8-400D-AF98-25F14226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4686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更重要的是节省高价值脑力劳动：找资料、同步背景、整理结论、重复解释。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723AD-3F4B-4F13-95C1-431C28C7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7C5CFF"/>
                </a:solidFill>
              </a:defRPr>
            </a:pPr>
            <a:r>
              <a:rPr sz="4125" b="1">
                <a:solidFill>
                  <a:srgbClr val="7C5CFF"/>
                </a:solidFill>
              </a:rPr>
              <a:t>6–7 FTE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3B309-74CB-4AE4-BEF6-A18CC0B1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33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CDECB-636F-4C2D-B9D3-58D1CE8E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solidFill>
              <a:srgbClr val="FFCF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90C3E-50CF-44ED-8EA6-49266D6A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新人上手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0E104-C251-44FB-B8BC-AFB88E71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8765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降低 30%–50%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6F177-F22C-4112-923E-FD6EF39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33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9D520-0784-4D96-88B7-4F665398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solidFill>
              <a:srgbClr val="FFCF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C86C7-FC31-43F6-999D-B20C5B7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053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资料查找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9B077-137A-47E4-ABE2-20EF495A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86300"/>
            <a:ext cx="28765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降低 30%–60%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CB7EE-5EBB-40AC-907D-354C49AF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333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890263-B38E-47DA-BC53-E3D56495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solidFill>
              <a:srgbClr val="FFCF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F04A0-F402-4984-BD42-533E1120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053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会议整理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9C829-154B-4783-850A-CAD865DD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86300"/>
            <a:ext cx="28765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节省 50% 以上</a:t>
            </a:r>
          </a:p>
        </p:txBody>
      </p:sp>
    </p:spTree>
    <p:extLst>
      <p:ext uri="{BB962C8B-B14F-4D97-AF65-F5344CB8AC3E}">
        <p14:creationId xmlns:p14="http://schemas.microsoft.com/office/powerpoint/2010/main" val="2027366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28E6F-4498-4278-9F6B-77DBB481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40244-7996-4F32-9A1A-7CABC81D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7DB07-4C13-4A68-AA80-C3C7DA28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B75A2-F206-4315-A940-EB522B99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A9F51-96B6-4F88-ADE2-742DBBD9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普通 AI 助手回答问题，TwinMesh 参与协作并沉淀知识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B9050-4B44-44FF-8944-FBA7C4ED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8865D-BE0F-4C07-9CCF-EEED9E2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普通 AI 助手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FB249-7C2B-4FC6-B241-0A820002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D6B3"/>
                </a:solidFill>
              </a:defRPr>
            </a:pPr>
            <a:r>
              <a:rPr sz="1275" b="1">
                <a:solidFill>
                  <a:srgbClr val="15D6B3"/>
                </a:solidFill>
              </a:rPr>
              <a:t>TwinMesh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692E5-EE37-4501-B888-DF01CEB5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3FC53-046E-4AD3-82E1-0F25E549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32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8CCFD-2F6E-41F3-97FF-235DA474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身份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2B303-15D7-4B92-9B44-CD26C7DB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0D9"/>
                </a:solidFill>
              </a:defRPr>
            </a:pPr>
            <a:r>
              <a:rPr sz="1200" b="0">
                <a:solidFill>
                  <a:srgbClr val="B8C0D9"/>
                </a:solidFill>
              </a:rPr>
              <a:t>泛用机器人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CC32D-9469-4931-86E7-9933B820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员工数字分身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98280-1513-4659-8AF0-937B293C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26E55-7D11-4F43-997B-8DC29543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EE8AA-5C0C-425D-AE36-7DAA08BB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289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0D9"/>
                </a:solidFill>
              </a:defRPr>
            </a:pPr>
            <a:r>
              <a:rPr sz="1200" b="0">
                <a:solidFill>
                  <a:srgbClr val="B8C0D9"/>
                </a:solidFill>
              </a:rPr>
              <a:t>当前对话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E6568-9EC1-475C-AA82-82A856D7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员工 + 项目 + 团队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52136-413E-4EC5-8CAB-3387AECC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32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0CBE-5955-4BC0-B308-B8FC7412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协作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8B2B3-BB0C-4E7E-8E23-79B5D437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576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0D9"/>
                </a:solidFill>
              </a:defRPr>
            </a:pPr>
            <a:r>
              <a:rPr sz="1200" b="0">
                <a:solidFill>
                  <a:srgbClr val="B8C0D9"/>
                </a:solidFill>
              </a:rPr>
              <a:t>人自己转述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D3B64-4502-4B04-B497-589FD24F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分身之间结构化协作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E54BC-6E65-4828-8A28-0668915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242A2-528C-4033-AC2D-5A68FDF3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沉淀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3C83F-C5A0-4112-85F2-F11A9DF1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0D9"/>
                </a:solidFill>
              </a:defRPr>
            </a:pPr>
            <a:r>
              <a:rPr sz="1200" b="0">
                <a:solidFill>
                  <a:srgbClr val="B8C0D9"/>
                </a:solidFill>
              </a:rPr>
              <a:t>聊天记录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40898-212E-47DB-A1DE-F29300D9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候选 memory → 确认 → 组织知识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6357E-9F6B-429D-8261-6E2E4CE7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32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7EAB4-5247-499D-9CB2-14681640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价值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A4038-1472-47F5-84E5-4EAE0F64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0D9"/>
                </a:solidFill>
              </a:defRPr>
            </a:pPr>
            <a:r>
              <a:rPr sz="1200" b="0">
                <a:solidFill>
                  <a:srgbClr val="B8C0D9"/>
                </a:solidFill>
              </a:rPr>
              <a:t>单次提效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F0219-6771-44CF-A31C-CA72FB7A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组织智能复利</a:t>
            </a:r>
          </a:p>
        </p:txBody>
      </p:sp>
    </p:spTree>
    <p:extLst>
      <p:ext uri="{BB962C8B-B14F-4D97-AF65-F5344CB8AC3E}">
        <p14:creationId xmlns:p14="http://schemas.microsoft.com/office/powerpoint/2010/main" val="1158014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D221FF-BF2F-4FBE-9DDF-EC7B881D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CA6DE-52ED-4780-9B7A-21C7099E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CBADA-C24F-484F-AD3E-5D41BA3E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B4295-EB5E-4623-890C-3537130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02CBD-ACE5-4237-B200-986D5958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未来：从数字分身走向企业智能操作系统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2480C-05AA-4D33-8776-B474EB6F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0958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DD083-3D5C-49E7-9C91-1E29A1CD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BF0DA-BF97-43E4-9FA4-37FA7B88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阶段一：个人分身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0E805-DF41-4EAD-98A7-61234F32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4638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个人记忆、项目问答、工具调用。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17292-6EF1-45AB-85E7-8A6E8178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00200"/>
            <a:ext cx="50958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4148B-FE8A-4E1C-8392-B42A4FA7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002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10770-ED6E-4EAA-87DB-A3539B6E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0975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阶段二：项目协作网络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6E769-80B0-43E6-A3B5-51E6CF12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90750"/>
            <a:ext cx="4638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分身围绕项目任务协作，项目 memory 自动增长。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AA4ED-FCD9-40FF-9A8E-E3BAA57B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958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ADD9A-78F8-43F4-93A9-28BAD704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solidFill>
              <a:srgbClr val="FFCF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BC7FA-6DC5-4D75-825D-FF88F6E8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阶段三：团队智能沉淀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723B4-2FB4-4C5A-9F6E-3328FC3D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638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项目经验投影为团队 memory，新项目自动召回历史经验。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CE07F-094E-4E3D-AF09-AE8926F5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24200"/>
            <a:ext cx="50958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5B469-8569-488D-8727-54335138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242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C87AC-16C3-47F7-80EC-57D97EF8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33750"/>
            <a:ext cx="463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阶段四：企业智能中枢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E03A4-C3C4-44F2-BB6B-552D90D3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14750"/>
            <a:ext cx="4638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9"/>
                </a:solidFill>
              </a:defRPr>
            </a:pPr>
            <a:r>
              <a:rPr sz="1275" b="0">
                <a:solidFill>
                  <a:srgbClr val="B8C0D9"/>
                </a:solidFill>
              </a:rPr>
              <a:t>接入更多系统，支持经营分析、风险预警和流程优化。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D5743-E7B7-42C2-8D78-ADFEC403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每个员工的分身是节点，每个项目是上下文容器，每条 memory 是组织神经元。</a:t>
            </a:r>
          </a:p>
        </p:txBody>
      </p:sp>
    </p:spTree>
    <p:extLst>
      <p:ext uri="{BB962C8B-B14F-4D97-AF65-F5344CB8AC3E}">
        <p14:creationId xmlns:p14="http://schemas.microsoft.com/office/powerpoint/2010/main" val="1436159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D13E63-B06D-4276-B65F-8DF441CA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72945-92A5-4B59-9730-E254642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4953000" cy="495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34289-84E0-420F-896E-A73C8595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143000"/>
            <a:ext cx="4000500" cy="400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5D6B3"/>
          </a:solidFill>
          <a:ln xmlns:a="http://schemas.openxmlformats.org/drawingml/2006/main" w="0">
            <a:solidFill>
              <a:srgbClr val="15D6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51663-9C5F-415F-B358-0BCB64A6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A5"/>
                </a:solidFill>
              </a:defRPr>
            </a:pPr>
            <a:r>
              <a:rPr sz="1050" b="0">
                <a:solidFill>
                  <a:srgbClr val="7180A5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325EA-8FD1-434D-859C-AA72FF79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TwinMesh 不是替代员工，而是放大员工；不是替代协作，而是让协作可追踪；不是堆更多工具，而是让工具、知识和人形成网络。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88100-A96D-417D-B902-F14573B0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D6B3"/>
                </a:solidFill>
              </a:defRPr>
            </a:pPr>
            <a:r>
              <a:rPr sz="2550" b="1">
                <a:solidFill>
                  <a:srgbClr val="15D6B3"/>
                </a:solidFill>
              </a:rPr>
              <a:t>让每个员工都有分身，让每个项目留下记忆，让每个团队持续进化。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9B21B-4453-471D-96FC-D8954794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238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B4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DCDEB-5C66-4D3C-BC34-9EC39552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个人提效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42C87-A7A9-440C-87A9-F6B1FF0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9650"/>
            <a:ext cx="1238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B4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17410-4219-43C5-B85D-587976EA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95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项目沉淀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27EBC-93D1-4C43-A2CA-FD295300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19650"/>
            <a:ext cx="1238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B4A"/>
          </a:solidFill>
          <a:ln xmlns:a="http://schemas.openxmlformats.org/drawingml/2006/main" w="9525">
            <a:solidFill>
              <a:srgbClr val="33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C893E-CCE7-491E-9DD0-0DF89BAF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95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组织智能</a:t>
            </a:r>
          </a:p>
        </p:txBody>
      </p:sp>
    </p:spTree>
    <p:extLst>
      <p:ext uri="{BB962C8B-B14F-4D97-AF65-F5344CB8AC3E}">
        <p14:creationId xmlns:p14="http://schemas.microsoft.com/office/powerpoint/2010/main" val="1671440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2026-07-10T03:17:32.0910000Z</dcterms:created>
  <dcterms:modified xsi:type="dcterms:W3CDTF">2026-07-10T03:17:32.0910000Z</dcterms:modified>
</coreProperties>
</file>