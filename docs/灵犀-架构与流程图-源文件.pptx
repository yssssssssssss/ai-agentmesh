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灵犀 Lingxi</a:t>
            </a:r>
            <a:pPr indent="0" marL="0">
              <a:buNone/>
            </a:pPr>
            <a:r>
              <a:rPr lang="en-US" sz="23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· 顶层架构图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以数字分身为中心 · A2A 协同总线连接分身 · 一切经可信治理沉淀为三级记忆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46120" y="1097280"/>
            <a:ext cx="155448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0" y="1225296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703320" y="10972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员工 A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532120" y="1097280"/>
            <a:ext cx="155448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225296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89320" y="10972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员工 B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7818120" y="1097280"/>
            <a:ext cx="155448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225296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75320" y="10972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员工 C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2880360" y="1783080"/>
            <a:ext cx="6309360" cy="1600200"/>
          </a:xfrm>
          <a:prstGeom prst="roundRect">
            <a:avLst>
              <a:gd name="adj" fmla="val 6857"/>
            </a:avLst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3017520" y="1847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数字分身层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4488" y="1572768"/>
            <a:ext cx="182880" cy="18288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3246120" y="2148840"/>
            <a:ext cx="1554480" cy="566928"/>
          </a:xfrm>
          <a:prstGeom prst="roundRect">
            <a:avLst>
              <a:gd name="adj" fmla="val 16129"/>
            </a:avLst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2424" y="2286000"/>
            <a:ext cx="292608" cy="29260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749040" y="2148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分身 A</a:t>
            </a:r>
            <a:endParaRPr lang="en-US" sz="12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0488" y="1572768"/>
            <a:ext cx="182880" cy="18288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5532120" y="2148840"/>
            <a:ext cx="1554480" cy="566928"/>
          </a:xfrm>
          <a:prstGeom prst="roundRect">
            <a:avLst>
              <a:gd name="adj" fmla="val 16129"/>
            </a:avLst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78424" y="2286000"/>
            <a:ext cx="292608" cy="29260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035040" y="2148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分身 B</a:t>
            </a:r>
            <a:endParaRPr lang="en-US" sz="12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6488" y="1572768"/>
            <a:ext cx="182880" cy="182880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7818120" y="2148840"/>
            <a:ext cx="1554480" cy="566928"/>
          </a:xfrm>
          <a:prstGeom prst="roundRect">
            <a:avLst>
              <a:gd name="adj" fmla="val 16129"/>
            </a:avLst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64424" y="2286000"/>
            <a:ext cx="292608" cy="292608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8321040" y="2148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分身 C</a:t>
            </a:r>
            <a:endParaRPr lang="en-US" sz="1200" dirty="0"/>
          </a:p>
        </p:txBody>
      </p:sp>
      <p:sp>
        <p:nvSpPr>
          <p:cNvPr id="27" name="Shape 16"/>
          <p:cNvSpPr/>
          <p:nvPr/>
        </p:nvSpPr>
        <p:spPr>
          <a:xfrm>
            <a:off x="4800600" y="2432304"/>
            <a:ext cx="73152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</a:ln>
        </p:spPr>
      </p:sp>
      <p:sp>
        <p:nvSpPr>
          <p:cNvPr id="28" name="Shape 17"/>
          <p:cNvSpPr/>
          <p:nvPr/>
        </p:nvSpPr>
        <p:spPr>
          <a:xfrm>
            <a:off x="7086600" y="2432304"/>
            <a:ext cx="73152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</a:ln>
        </p:spPr>
      </p:sp>
      <p:sp>
        <p:nvSpPr>
          <p:cNvPr id="29" name="Shape 18"/>
          <p:cNvSpPr/>
          <p:nvPr/>
        </p:nvSpPr>
        <p:spPr>
          <a:xfrm>
            <a:off x="3063240" y="2852928"/>
            <a:ext cx="5943600" cy="438912"/>
          </a:xfrm>
          <a:prstGeom prst="roundRect">
            <a:avLst>
              <a:gd name="adj" fmla="val 20833"/>
            </a:avLst>
          </a:prstGeom>
          <a:solidFill>
            <a:srgbClr val="1E1B4B"/>
          </a:solidFill>
          <a:ln/>
        </p:spPr>
      </p:sp>
      <p:sp>
        <p:nvSpPr>
          <p:cNvPr id="30" name="Text 19"/>
          <p:cNvSpPr/>
          <p:nvPr/>
        </p:nvSpPr>
        <p:spPr>
          <a:xfrm>
            <a:off x="3200400" y="2852928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协同总线   </a:t>
            </a:r>
            <a:pPr indent="0" marL="0">
              <a:buNone/>
            </a:pPr>
            <a:r>
              <a:rPr lang="en-US" sz="10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· evidence · handoff · decision · 绑定项目 · 全程可回放</a:t>
            </a:r>
            <a:endParaRPr lang="en-US" sz="100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6320" y="3429000"/>
            <a:ext cx="219456" cy="219456"/>
          </a:xfrm>
          <a:prstGeom prst="rect">
            <a:avLst/>
          </a:prstGeom>
        </p:spPr>
      </p:pic>
      <p:sp>
        <p:nvSpPr>
          <p:cNvPr id="32" name="Shape 20"/>
          <p:cNvSpPr/>
          <p:nvPr/>
        </p:nvSpPr>
        <p:spPr>
          <a:xfrm>
            <a:off x="2880360" y="3730752"/>
            <a:ext cx="5120640" cy="932688"/>
          </a:xfrm>
          <a:prstGeom prst="roundRect">
            <a:avLst>
              <a:gd name="adj" fmla="val 9804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21"/>
          <p:cNvSpPr/>
          <p:nvPr/>
        </p:nvSpPr>
        <p:spPr>
          <a:xfrm>
            <a:off x="3063240" y="37764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通用能力层 · 能力市场</a:t>
            </a:r>
            <a:endParaRPr lang="en-US" sz="1150" dirty="0"/>
          </a:p>
        </p:txBody>
      </p:sp>
      <p:sp>
        <p:nvSpPr>
          <p:cNvPr id="34" name="Shape 22"/>
          <p:cNvSpPr/>
          <p:nvPr/>
        </p:nvSpPr>
        <p:spPr>
          <a:xfrm>
            <a:off x="3063240" y="4114800"/>
            <a:ext cx="758952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35" name="Text 23"/>
          <p:cNvSpPr/>
          <p:nvPr/>
        </p:nvSpPr>
        <p:spPr>
          <a:xfrm>
            <a:off x="3063240" y="4114800"/>
            <a:ext cx="75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检索</a:t>
            </a:r>
            <a:endParaRPr lang="en-US" sz="1000" dirty="0"/>
          </a:p>
        </p:txBody>
      </p:sp>
      <p:sp>
        <p:nvSpPr>
          <p:cNvPr id="36" name="Shape 24"/>
          <p:cNvSpPr/>
          <p:nvPr/>
        </p:nvSpPr>
        <p:spPr>
          <a:xfrm>
            <a:off x="3867912" y="4114800"/>
            <a:ext cx="758952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37" name="Text 25"/>
          <p:cNvSpPr/>
          <p:nvPr/>
        </p:nvSpPr>
        <p:spPr>
          <a:xfrm>
            <a:off x="3867912" y="4114800"/>
            <a:ext cx="75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</a:t>
            </a:r>
            <a:endParaRPr lang="en-US" sz="1000" dirty="0"/>
          </a:p>
        </p:txBody>
      </p:sp>
      <p:sp>
        <p:nvSpPr>
          <p:cNvPr id="38" name="Shape 26"/>
          <p:cNvSpPr/>
          <p:nvPr/>
        </p:nvSpPr>
        <p:spPr>
          <a:xfrm>
            <a:off x="4672584" y="4114800"/>
            <a:ext cx="758952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39" name="Text 27"/>
          <p:cNvSpPr/>
          <p:nvPr/>
        </p:nvSpPr>
        <p:spPr>
          <a:xfrm>
            <a:off x="4672584" y="4114800"/>
            <a:ext cx="75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</a:t>
            </a:r>
            <a:endParaRPr lang="en-US" sz="1000" dirty="0"/>
          </a:p>
        </p:txBody>
      </p:sp>
      <p:sp>
        <p:nvSpPr>
          <p:cNvPr id="40" name="Shape 28"/>
          <p:cNvSpPr/>
          <p:nvPr/>
        </p:nvSpPr>
        <p:spPr>
          <a:xfrm>
            <a:off x="5477256" y="4114800"/>
            <a:ext cx="758952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41" name="Text 29"/>
          <p:cNvSpPr/>
          <p:nvPr/>
        </p:nvSpPr>
        <p:spPr>
          <a:xfrm>
            <a:off x="5477256" y="4114800"/>
            <a:ext cx="75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会议</a:t>
            </a:r>
            <a:endParaRPr lang="en-US" sz="1000" dirty="0"/>
          </a:p>
        </p:txBody>
      </p:sp>
      <p:sp>
        <p:nvSpPr>
          <p:cNvPr id="42" name="Shape 30"/>
          <p:cNvSpPr/>
          <p:nvPr/>
        </p:nvSpPr>
        <p:spPr>
          <a:xfrm>
            <a:off x="6281928" y="4114800"/>
            <a:ext cx="758952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6281928" y="4114800"/>
            <a:ext cx="75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7086600" y="4114800"/>
            <a:ext cx="758952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7086600" y="4114800"/>
            <a:ext cx="75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8229600" y="3730752"/>
            <a:ext cx="2788920" cy="932688"/>
          </a:xfrm>
          <a:prstGeom prst="roundRect">
            <a:avLst>
              <a:gd name="adj" fmla="val 9804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8412480" y="377647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项目上下文中心</a:t>
            </a:r>
            <a:endParaRPr lang="en-US" sz="1150" dirty="0"/>
          </a:p>
        </p:txBody>
      </p:sp>
      <p:sp>
        <p:nvSpPr>
          <p:cNvPr id="48" name="Text 36"/>
          <p:cNvSpPr/>
          <p:nvPr/>
        </p:nvSpPr>
        <p:spPr>
          <a:xfrm>
            <a:off x="8412480" y="40965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时间线 · 关键来源 · 决策/风险</a:t>
            </a:r>
            <a:endParaRPr lang="en-US" sz="950" dirty="0"/>
          </a:p>
        </p:txBody>
      </p:sp>
      <p:sp>
        <p:nvSpPr>
          <p:cNvPr id="49" name="Shape 37"/>
          <p:cNvSpPr/>
          <p:nvPr/>
        </p:nvSpPr>
        <p:spPr>
          <a:xfrm>
            <a:off x="8001000" y="4206240"/>
            <a:ext cx="228600" cy="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</a:ln>
        </p:spPr>
      </p:sp>
      <p:pic>
        <p:nvPicPr>
          <p:cNvPr id="5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46320" y="4709160"/>
            <a:ext cx="219456" cy="219456"/>
          </a:xfrm>
          <a:prstGeom prst="rect">
            <a:avLst/>
          </a:prstGeom>
        </p:spPr>
      </p:pic>
      <p:sp>
        <p:nvSpPr>
          <p:cNvPr id="51" name="Text 38"/>
          <p:cNvSpPr/>
          <p:nvPr/>
        </p:nvSpPr>
        <p:spPr>
          <a:xfrm>
            <a:off x="5166360" y="46908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产出候选</a:t>
            </a:r>
            <a:endParaRPr lang="en-US" sz="900" dirty="0"/>
          </a:p>
        </p:txBody>
      </p:sp>
      <p:sp>
        <p:nvSpPr>
          <p:cNvPr id="52" name="Shape 39"/>
          <p:cNvSpPr/>
          <p:nvPr/>
        </p:nvSpPr>
        <p:spPr>
          <a:xfrm>
            <a:off x="2880360" y="5029200"/>
            <a:ext cx="8138160" cy="566928"/>
          </a:xfrm>
          <a:prstGeom prst="roundRect">
            <a:avLst>
              <a:gd name="adj" fmla="val 16129"/>
            </a:avLst>
          </a:prstGeom>
          <a:solidFill>
            <a:srgbClr val="FFE4E6"/>
          </a:solidFill>
          <a:ln w="15875">
            <a:solidFill>
              <a:srgbClr val="BE123C"/>
            </a:solidFill>
            <a:prstDash val="solid"/>
          </a:ln>
        </p:spPr>
      </p:sp>
      <p:pic>
        <p:nvPicPr>
          <p:cNvPr id="5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63240" y="5175504"/>
            <a:ext cx="274320" cy="274320"/>
          </a:xfrm>
          <a:prstGeom prst="rect">
            <a:avLst/>
          </a:prstGeom>
        </p:spPr>
      </p:pic>
      <p:sp>
        <p:nvSpPr>
          <p:cNvPr id="54" name="Text 40"/>
          <p:cNvSpPr/>
          <p:nvPr/>
        </p:nvSpPr>
        <p:spPr>
          <a:xfrm>
            <a:off x="3429000" y="502920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可信治理(闸门)  </a:t>
            </a:r>
            <a:pPr indent="0" marL="0">
              <a:buNone/>
            </a:pPr>
            <a:r>
              <a:rPr lang="en-US" sz="1050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人审 Inbox · 风险四信号 · 能力授权 · 全程审计 —— 主动而不越权</a:t>
            </a:r>
            <a:endParaRPr lang="en-US" sz="1050" dirty="0"/>
          </a:p>
        </p:txBody>
      </p:sp>
      <p:pic>
        <p:nvPicPr>
          <p:cNvPr id="5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46320" y="5632704"/>
            <a:ext cx="201168" cy="201168"/>
          </a:xfrm>
          <a:prstGeom prst="rect">
            <a:avLst/>
          </a:prstGeom>
        </p:spPr>
      </p:pic>
      <p:sp>
        <p:nvSpPr>
          <p:cNvPr id="56" name="Shape 41"/>
          <p:cNvSpPr/>
          <p:nvPr/>
        </p:nvSpPr>
        <p:spPr>
          <a:xfrm>
            <a:off x="2880360" y="5943600"/>
            <a:ext cx="5120640" cy="658368"/>
          </a:xfrm>
          <a:prstGeom prst="roundRect">
            <a:avLst>
              <a:gd name="adj" fmla="val 13889"/>
            </a:avLst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7" name="Text 42"/>
          <p:cNvSpPr/>
          <p:nvPr/>
        </p:nvSpPr>
        <p:spPr>
          <a:xfrm>
            <a:off x="3063240" y="5989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三级记忆飞轮</a:t>
            </a:r>
            <a:endParaRPr lang="en-US" sz="1150" dirty="0"/>
          </a:p>
        </p:txBody>
      </p:sp>
      <p:sp>
        <p:nvSpPr>
          <p:cNvPr id="58" name="Text 43"/>
          <p:cNvSpPr/>
          <p:nvPr/>
        </p:nvSpPr>
        <p:spPr>
          <a:xfrm>
            <a:off x="3063240" y="629107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个人 → 项目 → 团队(候选确认后沉淀)</a:t>
            </a:r>
            <a:endParaRPr lang="en-US" sz="950" dirty="0"/>
          </a:p>
        </p:txBody>
      </p:sp>
      <p:sp>
        <p:nvSpPr>
          <p:cNvPr id="59" name="Shape 44"/>
          <p:cNvSpPr/>
          <p:nvPr/>
        </p:nvSpPr>
        <p:spPr>
          <a:xfrm>
            <a:off x="8229600" y="5943600"/>
            <a:ext cx="2788920" cy="658368"/>
          </a:xfrm>
          <a:prstGeom prst="roundRect">
            <a:avLst>
              <a:gd name="adj" fmla="val 13889"/>
            </a:avLst>
          </a:prstGeom>
          <a:solidFill>
            <a:srgbClr val="1E1B4B"/>
          </a:solidFill>
          <a:ln/>
        </p:spPr>
      </p:sp>
      <p:sp>
        <p:nvSpPr>
          <p:cNvPr id="60" name="Text 45"/>
          <p:cNvSpPr/>
          <p:nvPr/>
        </p:nvSpPr>
        <p:spPr>
          <a:xfrm>
            <a:off x="8412480" y="59710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数据事实源 + 外部</a:t>
            </a:r>
            <a:endParaRPr lang="en-US" sz="1100" dirty="0"/>
          </a:p>
        </p:txBody>
      </p:sp>
      <p:sp>
        <p:nvSpPr>
          <p:cNvPr id="61" name="Text 46"/>
          <p:cNvSpPr/>
          <p:nvPr/>
        </p:nvSpPr>
        <p:spPr>
          <a:xfrm>
            <a:off x="8412480" y="627278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LLM · ASR · 只读连接器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灵犀 Lingxi</a:t>
            </a:r>
            <a:pPr indent="0" marL="0">
              <a:buNone/>
            </a:pPr>
            <a:r>
              <a:rPr lang="en-US" sz="23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· 运行时执行流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48640" y="932688"/>
            <a:ext cx="256032" cy="25603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326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96112" y="89611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分身运行时主流程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2487168" cy="841248"/>
          </a:xfrm>
          <a:prstGeom prst="roundRect">
            <a:avLst>
              <a:gd name="adj" fmla="val 10870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517904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148132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触发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1847088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用户下达 / 收到 A2A 消息</a:t>
            </a:r>
            <a:endParaRPr lang="en-US" sz="9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1736" y="1691640"/>
            <a:ext cx="201168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590544" y="1371600"/>
            <a:ext cx="2487168" cy="841248"/>
          </a:xfrm>
          <a:prstGeom prst="roundRect">
            <a:avLst>
              <a:gd name="adj" fmla="val 10870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5136" y="1517904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120896" y="148132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检索分层记忆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3773424" y="1847088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会话·项目·个人·团队</a:t>
            </a:r>
            <a:endParaRPr lang="en-US" sz="9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691640"/>
            <a:ext cx="201168" cy="20116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632448" y="1371600"/>
            <a:ext cx="2487168" cy="841248"/>
          </a:xfrm>
          <a:prstGeom prst="roundRect">
            <a:avLst>
              <a:gd name="adj" fmla="val 10870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7040" y="1517904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162800" y="148132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意图规划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6815328" y="1847088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 autonomy_level 约束</a:t>
            </a:r>
            <a:endParaRPr lang="en-US" sz="9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5544" y="1691640"/>
            <a:ext cx="201168" cy="201168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9674352" y="1371600"/>
            <a:ext cx="2487168" cy="841248"/>
          </a:xfrm>
          <a:prstGeom prst="roundRect">
            <a:avLst>
              <a:gd name="adj" fmla="val 10870"/>
            </a:avLst>
          </a:prstGeom>
          <a:solidFill>
            <a:srgbClr val="FFE4E6"/>
          </a:solidFill>
          <a:ln w="12700">
            <a:solidFill>
              <a:srgbClr val="BE123C"/>
            </a:solidFill>
            <a:prstDash val="solid"/>
          </a:ln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38944" y="1517904"/>
            <a:ext cx="274320" cy="27432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0204704" y="148132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能力调用·闸门</a:t>
            </a:r>
            <a:endParaRPr lang="en-US" sz="1200" dirty="0"/>
          </a:p>
        </p:txBody>
      </p:sp>
      <p:sp>
        <p:nvSpPr>
          <p:cNvPr id="24" name="Text 15"/>
          <p:cNvSpPr/>
          <p:nvPr/>
        </p:nvSpPr>
        <p:spPr>
          <a:xfrm>
            <a:off x="9857232" y="1847088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授权检查 + 风险四信号</a:t>
            </a:r>
            <a:endParaRPr lang="en-US" sz="950" dirty="0"/>
          </a:p>
        </p:txBody>
      </p:sp>
      <p:sp>
        <p:nvSpPr>
          <p:cNvPr id="25" name="Shape 16"/>
          <p:cNvSpPr/>
          <p:nvPr/>
        </p:nvSpPr>
        <p:spPr>
          <a:xfrm>
            <a:off x="10917936" y="2212848"/>
            <a:ext cx="0" cy="292608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</p:sp>
      <p:sp>
        <p:nvSpPr>
          <p:cNvPr id="26" name="Shape 17"/>
          <p:cNvSpPr/>
          <p:nvPr/>
        </p:nvSpPr>
        <p:spPr>
          <a:xfrm>
            <a:off x="9098280" y="2505456"/>
            <a:ext cx="2514600" cy="457200"/>
          </a:xfrm>
          <a:prstGeom prst="roundRect">
            <a:avLst>
              <a:gd name="adj" fmla="val 20000"/>
            </a:avLst>
          </a:prstGeom>
          <a:solidFill>
            <a:srgbClr val="BE123C"/>
          </a:solidFill>
          <a:ln/>
        </p:spPr>
      </p:sp>
      <p:sp>
        <p:nvSpPr>
          <p:cNvPr id="27" name="Text 18"/>
          <p:cNvSpPr/>
          <p:nvPr/>
        </p:nvSpPr>
        <p:spPr>
          <a:xfrm>
            <a:off x="9098280" y="250545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命中风险 / 越权 → 阻断并转人审</a:t>
            </a:r>
            <a:endParaRPr lang="en-US" sz="1000" dirty="0"/>
          </a:p>
        </p:txBody>
      </p:sp>
      <p:sp>
        <p:nvSpPr>
          <p:cNvPr id="28" name="Shape 19"/>
          <p:cNvSpPr/>
          <p:nvPr/>
        </p:nvSpPr>
        <p:spPr>
          <a:xfrm>
            <a:off x="548640" y="3200400"/>
            <a:ext cx="2487168" cy="841248"/>
          </a:xfrm>
          <a:prstGeom prst="roundRect">
            <a:avLst>
              <a:gd name="adj" fmla="val 1087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2" y="3346704"/>
            <a:ext cx="274320" cy="27432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1078992" y="331012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归一化为来源</a:t>
            </a:r>
            <a:endParaRPr lang="en-US" sz="1200" dirty="0"/>
          </a:p>
        </p:txBody>
      </p:sp>
      <p:sp>
        <p:nvSpPr>
          <p:cNvPr id="31" name="Text 21"/>
          <p:cNvSpPr/>
          <p:nvPr/>
        </p:nvSpPr>
        <p:spPr>
          <a:xfrm>
            <a:off x="731520" y="3675888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· 引用不可伪造</a:t>
            </a:r>
            <a:endParaRPr lang="en-US" sz="95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21736" y="3520440"/>
            <a:ext cx="201168" cy="201168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3590544" y="3200400"/>
            <a:ext cx="2487168" cy="841248"/>
          </a:xfrm>
          <a:prstGeom prst="roundRect">
            <a:avLst>
              <a:gd name="adj" fmla="val 1087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55136" y="3346704"/>
            <a:ext cx="274320" cy="274320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4120896" y="331012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产出候选</a:t>
            </a:r>
            <a:endParaRPr lang="en-US" sz="1200" dirty="0"/>
          </a:p>
        </p:txBody>
      </p:sp>
      <p:sp>
        <p:nvSpPr>
          <p:cNvPr id="36" name="Text 24"/>
          <p:cNvSpPr/>
          <p:nvPr/>
        </p:nvSpPr>
        <p:spPr>
          <a:xfrm>
            <a:off x="3773424" y="3675888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写会话短期记忆</a:t>
            </a:r>
            <a:endParaRPr lang="en-US" sz="950" dirty="0"/>
          </a:p>
        </p:txBody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63640" y="3520440"/>
            <a:ext cx="201168" cy="201168"/>
          </a:xfrm>
          <a:prstGeom prst="rect">
            <a:avLst/>
          </a:prstGeom>
        </p:spPr>
      </p:pic>
      <p:sp>
        <p:nvSpPr>
          <p:cNvPr id="38" name="Shape 25"/>
          <p:cNvSpPr/>
          <p:nvPr/>
        </p:nvSpPr>
        <p:spPr>
          <a:xfrm>
            <a:off x="6632448" y="3200400"/>
            <a:ext cx="2487168" cy="841248"/>
          </a:xfrm>
          <a:prstGeom prst="roundRect">
            <a:avLst>
              <a:gd name="adj" fmla="val 1087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97040" y="3346704"/>
            <a:ext cx="274320" cy="274320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7162800" y="331012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人审 Inbox</a:t>
            </a:r>
            <a:endParaRPr lang="en-US" sz="1200" dirty="0"/>
          </a:p>
        </p:txBody>
      </p:sp>
      <p:sp>
        <p:nvSpPr>
          <p:cNvPr id="41" name="Text 27"/>
          <p:cNvSpPr/>
          <p:nvPr/>
        </p:nvSpPr>
        <p:spPr>
          <a:xfrm>
            <a:off x="6815328" y="3675888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高影响结论确认才生效</a:t>
            </a:r>
            <a:endParaRPr lang="en-US" sz="950" dirty="0"/>
          </a:p>
        </p:txBody>
      </p:sp>
      <p:pic>
        <p:nvPicPr>
          <p:cNvPr id="4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05544" y="3520440"/>
            <a:ext cx="201168" cy="201168"/>
          </a:xfrm>
          <a:prstGeom prst="rect">
            <a:avLst/>
          </a:prstGeom>
        </p:spPr>
      </p:pic>
      <p:sp>
        <p:nvSpPr>
          <p:cNvPr id="43" name="Shape 28"/>
          <p:cNvSpPr/>
          <p:nvPr/>
        </p:nvSpPr>
        <p:spPr>
          <a:xfrm>
            <a:off x="9674352" y="3200400"/>
            <a:ext cx="2487168" cy="841248"/>
          </a:xfrm>
          <a:prstGeom prst="roundRect">
            <a:avLst>
              <a:gd name="adj" fmla="val 10870"/>
            </a:avLst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4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38944" y="3346704"/>
            <a:ext cx="274320" cy="274320"/>
          </a:xfrm>
          <a:prstGeom prst="rect">
            <a:avLst/>
          </a:prstGeom>
        </p:spPr>
      </p:pic>
      <p:sp>
        <p:nvSpPr>
          <p:cNvPr id="45" name="Text 29"/>
          <p:cNvSpPr/>
          <p:nvPr/>
        </p:nvSpPr>
        <p:spPr>
          <a:xfrm>
            <a:off x="10204704" y="331012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沉淀三级记忆</a:t>
            </a:r>
            <a:endParaRPr lang="en-US" sz="1200" dirty="0"/>
          </a:p>
        </p:txBody>
      </p:sp>
      <p:sp>
        <p:nvSpPr>
          <p:cNvPr id="46" name="Text 30"/>
          <p:cNvSpPr/>
          <p:nvPr/>
        </p:nvSpPr>
        <p:spPr>
          <a:xfrm>
            <a:off x="9857232" y="3675888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全程审计 · 可回放</a:t>
            </a:r>
            <a:endParaRPr lang="en-US" sz="950" dirty="0"/>
          </a:p>
        </p:txBody>
      </p:sp>
      <p:sp>
        <p:nvSpPr>
          <p:cNvPr id="47" name="Shape 31"/>
          <p:cNvSpPr/>
          <p:nvPr/>
        </p:nvSpPr>
        <p:spPr>
          <a:xfrm>
            <a:off x="548640" y="4370832"/>
            <a:ext cx="256032" cy="25603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48" name="Text 32"/>
          <p:cNvSpPr/>
          <p:nvPr/>
        </p:nvSpPr>
        <p:spPr>
          <a:xfrm>
            <a:off x="548640" y="4370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9" name="Text 33"/>
          <p:cNvSpPr/>
          <p:nvPr/>
        </p:nvSpPr>
        <p:spPr>
          <a:xfrm>
            <a:off x="896112" y="4334256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分身间通信(A2A 协同 · 落盘异步)</a:t>
            </a:r>
            <a:endParaRPr lang="en-US" sz="1400" dirty="0"/>
          </a:p>
        </p:txBody>
      </p:sp>
      <p:sp>
        <p:nvSpPr>
          <p:cNvPr id="50" name="Shape 34"/>
          <p:cNvSpPr/>
          <p:nvPr/>
        </p:nvSpPr>
        <p:spPr>
          <a:xfrm>
            <a:off x="548640" y="4828032"/>
            <a:ext cx="1755648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1" name="Text 35"/>
          <p:cNvSpPr/>
          <p:nvPr/>
        </p:nvSpPr>
        <p:spPr>
          <a:xfrm>
            <a:off x="658368" y="4956048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分身 A</a:t>
            </a:r>
            <a:endParaRPr lang="en-US" sz="1100" dirty="0"/>
          </a:p>
        </p:txBody>
      </p:sp>
      <p:sp>
        <p:nvSpPr>
          <p:cNvPr id="52" name="Text 36"/>
          <p:cNvSpPr/>
          <p:nvPr/>
        </p:nvSpPr>
        <p:spPr>
          <a:xfrm>
            <a:off x="640080" y="530352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 request 请求</a:t>
            </a:r>
            <a:endParaRPr lang="en-US" sz="880" dirty="0"/>
          </a:p>
        </p:txBody>
      </p:sp>
      <p:pic>
        <p:nvPicPr>
          <p:cNvPr id="5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329891" y="5184648"/>
            <a:ext cx="182880" cy="182880"/>
          </a:xfrm>
          <a:prstGeom prst="rect">
            <a:avLst/>
          </a:prstGeom>
        </p:spPr>
      </p:pic>
      <p:sp>
        <p:nvSpPr>
          <p:cNvPr id="54" name="Shape 37"/>
          <p:cNvSpPr/>
          <p:nvPr/>
        </p:nvSpPr>
        <p:spPr>
          <a:xfrm>
            <a:off x="2520086" y="4828032"/>
            <a:ext cx="1755648" cy="896112"/>
          </a:xfrm>
          <a:prstGeom prst="roundRect">
            <a:avLst>
              <a:gd name="adj" fmla="val 10204"/>
            </a:avLst>
          </a:prstGeom>
          <a:solidFill>
            <a:srgbClr val="1E1B4B"/>
          </a:solidFill>
          <a:ln w="15875">
            <a:solidFill>
              <a:srgbClr val="1E1B4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5" name="Text 38"/>
          <p:cNvSpPr/>
          <p:nvPr/>
        </p:nvSpPr>
        <p:spPr>
          <a:xfrm>
            <a:off x="2629814" y="4956048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a2aBus 落盘</a:t>
            </a:r>
            <a:endParaRPr lang="en-US" sz="1100" dirty="0"/>
          </a:p>
        </p:txBody>
      </p:sp>
      <p:sp>
        <p:nvSpPr>
          <p:cNvPr id="56" name="Text 39"/>
          <p:cNvSpPr/>
          <p:nvPr/>
        </p:nvSpPr>
        <p:spPr>
          <a:xfrm>
            <a:off x="2611526" y="530352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a2a_messages · open</a:t>
            </a:r>
            <a:endParaRPr lang="en-US" sz="880" dirty="0"/>
          </a:p>
        </p:txBody>
      </p:sp>
      <p:pic>
        <p:nvPicPr>
          <p:cNvPr id="5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01338" y="5184648"/>
            <a:ext cx="182880" cy="182880"/>
          </a:xfrm>
          <a:prstGeom prst="rect">
            <a:avLst/>
          </a:prstGeom>
        </p:spPr>
      </p:pic>
      <p:sp>
        <p:nvSpPr>
          <p:cNvPr id="58" name="Shape 40"/>
          <p:cNvSpPr/>
          <p:nvPr/>
        </p:nvSpPr>
        <p:spPr>
          <a:xfrm>
            <a:off x="4491533" y="4828032"/>
            <a:ext cx="1755648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5875">
            <a:solidFill>
              <a:srgbClr val="64748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9" name="Text 41"/>
          <p:cNvSpPr/>
          <p:nvPr/>
        </p:nvSpPr>
        <p:spPr>
          <a:xfrm>
            <a:off x="4601261" y="4956048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setImmediate 投递</a:t>
            </a:r>
            <a:endParaRPr lang="en-US" sz="1100" dirty="0"/>
          </a:p>
        </p:txBody>
      </p:sp>
      <p:sp>
        <p:nvSpPr>
          <p:cNvPr id="60" name="Text 42"/>
          <p:cNvSpPr/>
          <p:nvPr/>
        </p:nvSpPr>
        <p:spPr>
          <a:xfrm>
            <a:off x="4582973" y="530352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推送目标分身</a:t>
            </a:r>
            <a:endParaRPr lang="en-US" sz="880" dirty="0"/>
          </a:p>
        </p:txBody>
      </p:sp>
      <p:pic>
        <p:nvPicPr>
          <p:cNvPr id="61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72784" y="5184648"/>
            <a:ext cx="182880" cy="182880"/>
          </a:xfrm>
          <a:prstGeom prst="rect">
            <a:avLst/>
          </a:prstGeom>
        </p:spPr>
      </p:pic>
      <p:sp>
        <p:nvSpPr>
          <p:cNvPr id="62" name="Shape 43"/>
          <p:cNvSpPr/>
          <p:nvPr/>
        </p:nvSpPr>
        <p:spPr>
          <a:xfrm>
            <a:off x="6462979" y="4828032"/>
            <a:ext cx="1755648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5875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3" name="Text 44"/>
          <p:cNvSpPr/>
          <p:nvPr/>
        </p:nvSpPr>
        <p:spPr>
          <a:xfrm>
            <a:off x="6572707" y="4956048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分身 B</a:t>
            </a:r>
            <a:endParaRPr lang="en-US" sz="1100" dirty="0"/>
          </a:p>
        </p:txBody>
      </p:sp>
      <p:sp>
        <p:nvSpPr>
          <p:cNvPr id="64" name="Text 45"/>
          <p:cNvSpPr/>
          <p:nvPr/>
        </p:nvSpPr>
        <p:spPr>
          <a:xfrm>
            <a:off x="6554419" y="530352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接收→取证/执行</a:t>
            </a:r>
            <a:endParaRPr lang="en-US" sz="880" dirty="0"/>
          </a:p>
        </p:txBody>
      </p:sp>
      <p:pic>
        <p:nvPicPr>
          <p:cNvPr id="65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44230" y="5184648"/>
            <a:ext cx="182880" cy="182880"/>
          </a:xfrm>
          <a:prstGeom prst="rect">
            <a:avLst/>
          </a:prstGeom>
        </p:spPr>
      </p:pic>
      <p:sp>
        <p:nvSpPr>
          <p:cNvPr id="66" name="Shape 46"/>
          <p:cNvSpPr/>
          <p:nvPr/>
        </p:nvSpPr>
        <p:spPr>
          <a:xfrm>
            <a:off x="8434426" y="4828032"/>
            <a:ext cx="1755648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7" name="Text 47"/>
          <p:cNvSpPr/>
          <p:nvPr/>
        </p:nvSpPr>
        <p:spPr>
          <a:xfrm>
            <a:off x="8544154" y="4956048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 evidence/handoff</a:t>
            </a:r>
            <a:endParaRPr lang="en-US" sz="1100" dirty="0"/>
          </a:p>
        </p:txBody>
      </p:sp>
      <p:sp>
        <p:nvSpPr>
          <p:cNvPr id="68" name="Text 48"/>
          <p:cNvSpPr/>
          <p:nvPr/>
        </p:nvSpPr>
        <p:spPr>
          <a:xfrm>
            <a:off x="8525866" y="530352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归一化来源</a:t>
            </a:r>
            <a:endParaRPr lang="en-US" sz="880" dirty="0"/>
          </a:p>
        </p:txBody>
      </p:sp>
      <p:pic>
        <p:nvPicPr>
          <p:cNvPr id="69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215677" y="5184648"/>
            <a:ext cx="182880" cy="182880"/>
          </a:xfrm>
          <a:prstGeom prst="rect">
            <a:avLst/>
          </a:prstGeom>
        </p:spPr>
      </p:pic>
      <p:sp>
        <p:nvSpPr>
          <p:cNvPr id="70" name="Shape 49"/>
          <p:cNvSpPr/>
          <p:nvPr/>
        </p:nvSpPr>
        <p:spPr>
          <a:xfrm>
            <a:off x="10405872" y="4828032"/>
            <a:ext cx="1755648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5875">
            <a:solidFill>
              <a:srgbClr val="BE123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1" name="Text 50"/>
          <p:cNvSpPr/>
          <p:nvPr/>
        </p:nvSpPr>
        <p:spPr>
          <a:xfrm>
            <a:off x="10515600" y="4956048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候选</a:t>
            </a:r>
            <a:endParaRPr lang="en-US" sz="1100" dirty="0"/>
          </a:p>
        </p:txBody>
      </p:sp>
      <p:sp>
        <p:nvSpPr>
          <p:cNvPr id="72" name="Text 51"/>
          <p:cNvSpPr/>
          <p:nvPr/>
        </p:nvSpPr>
        <p:spPr>
          <a:xfrm>
            <a:off x="10497312" y="530352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人确认沉淀</a:t>
            </a:r>
            <a:endParaRPr lang="en-US" sz="880" dirty="0"/>
          </a:p>
        </p:txBody>
      </p:sp>
      <p:sp>
        <p:nvSpPr>
          <p:cNvPr id="73" name="Shape 52"/>
          <p:cNvSpPr/>
          <p:nvPr/>
        </p:nvSpPr>
        <p:spPr>
          <a:xfrm>
            <a:off x="548640" y="5943600"/>
            <a:ext cx="11064240" cy="457200"/>
          </a:xfrm>
          <a:prstGeom prst="roundRect">
            <a:avLst>
              <a:gd name="adj" fmla="val 20000"/>
            </a:avLst>
          </a:prstGeom>
          <a:solidFill>
            <a:srgbClr val="ECFEF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4" name="Text 53"/>
          <p:cNvSpPr/>
          <p:nvPr/>
        </p:nvSpPr>
        <p:spPr>
          <a:xfrm>
            <a:off x="731520" y="59436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协同护栏:</a:t>
            </a:r>
            <a:pPr indent="0" marL="0">
              <a:buNone/>
            </a:pPr>
            <a:r>
              <a:rPr lang="en-US" sz="1050" dirty="0">
                <a:solidFill>
                  <a:srgbClr val="15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 A2A 消息绑定 design_project、进项目时间线、可回放;协同产物一律为候选;跨项目/批量/写团队记忆自动触发风险审核。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2026-07-13T07:35:06Z</dcterms:created>
  <dcterms:modified xsi:type="dcterms:W3CDTF">2026-07-13T07:35:06Z</dcterms:modified>
</cp:coreProperties>
</file>